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idpSIkieZFfovGMn6Cq4Lm+QDP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a87b670be3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g3a87b670be3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g3a87b670be3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a87b670be3_3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" name="Google Shape;33;g3a87b670be3_3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g3a87b670be3_3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a87b670be3_1_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g3a87b670be3_1_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g3a87b670be3_1_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87b670be3_0_2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3a87b670be3_0_2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Protein - PRKAA2</a:t>
            </a:r>
            <a:endParaRPr/>
          </a:p>
        </p:txBody>
      </p:sp>
      <p:sp>
        <p:nvSpPr>
          <p:cNvPr id="93" name="Google Shape;93;g3a87b670be3_0_2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87b670be3_6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3a87b670be3_6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a87b670be3_6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87b670be3_0_2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3a87b670be3_0_2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a87b670be3_0_2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a87b670be3_0_1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g3a87b670be3_0_1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a87b670be3_0_16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hyperlink" Target="https://akleao.com/preview/fbdd12ef-4f95-43ff-a21c-5433fa8dd4e0" TargetMode="External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hyperlink" Target="https://akleao.com/preview/fdcc93b4-d408-40f5-a8f8-df888ef2689e" TargetMode="External"/><Relationship Id="rId5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akleao.com/preview/fbdd12ef-4f95-43ff-a21c-5433fa8dd4e0" TargetMode="External"/><Relationship Id="rId4" Type="http://schemas.openxmlformats.org/officeDocument/2006/relationships/image" Target="../media/image5.png"/><Relationship Id="rId9" Type="http://schemas.openxmlformats.org/officeDocument/2006/relationships/image" Target="../media/image9.png"/><Relationship Id="rId5" Type="http://schemas.openxmlformats.org/officeDocument/2006/relationships/hyperlink" Target="https://akleao.com/preview/041fcc01-2898-44fb-897e-d35b869d5ea2" TargetMode="External"/><Relationship Id="rId6" Type="http://schemas.openxmlformats.org/officeDocument/2006/relationships/image" Target="../media/image8.png"/><Relationship Id="rId7" Type="http://schemas.openxmlformats.org/officeDocument/2006/relationships/image" Target="../media/image11.png"/><Relationship Id="rId8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634850" y="1405661"/>
            <a:ext cx="2118900" cy="9210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634851" y="1117693"/>
            <a:ext cx="6791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A8D4"/>
              </a:buClr>
              <a:buSzPts val="1200"/>
              <a:buFont typeface="Arial"/>
              <a:buNone/>
            </a:pPr>
            <a:r>
              <a:rPr b="1" i="0" lang="en-US" sz="1600" u="none" cap="none" strike="noStrike">
                <a:solidFill>
                  <a:srgbClr val="F9A8D4"/>
                </a:solidFill>
                <a:latin typeface="Arial"/>
                <a:ea typeface="Arial"/>
                <a:cs typeface="Arial"/>
                <a:sym typeface="Arial"/>
              </a:rPr>
              <a:t>BioIT Hackathon 2026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634900" y="1614125"/>
            <a:ext cx="82086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Mining the CFDE for</a:t>
            </a: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Post-Translational Modification (PTM) Secrets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34852" y="2623375"/>
            <a:ext cx="79176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4B5FD"/>
              </a:buClr>
              <a:buSzPts val="1100"/>
              <a:buFont typeface="Arial"/>
              <a:buNone/>
            </a:pPr>
            <a:r>
              <a:rPr lang="en-US">
                <a:solidFill>
                  <a:schemeClr val="lt1"/>
                </a:solidFill>
              </a:rPr>
              <a:t>Christina Akirtava, </a:t>
            </a:r>
            <a:r>
              <a:rPr lang="en-US" u="sng">
                <a:solidFill>
                  <a:schemeClr val="lt1"/>
                </a:solidFill>
              </a:rPr>
              <a:t>Vlado Dancik</a:t>
            </a: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>
                <a:solidFill>
                  <a:schemeClr val="lt1"/>
                </a:solidFill>
              </a:rPr>
              <a:t>Jana Moubarak, Viveka Patil, Amy Reese, </a:t>
            </a:r>
            <a:r>
              <a:rPr lang="en-US" sz="1500">
                <a:solidFill>
                  <a:schemeClr val="lt1"/>
                </a:solidFill>
              </a:rPr>
              <a:t>Chase Yakaboski</a:t>
            </a:r>
            <a:endParaRPr b="0" i="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a87b670be3_1_0"/>
          <p:cNvSpPr/>
          <p:nvPr/>
        </p:nvSpPr>
        <p:spPr>
          <a:xfrm>
            <a:off x="307225" y="130250"/>
            <a:ext cx="83943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2200"/>
              <a:buFont typeface="Arial"/>
              <a:buNone/>
            </a:pPr>
            <a:r>
              <a:rPr b="1" i="0" lang="en-US" sz="28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Why PTMs and Why CFDE?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g3a87b670be3_1_0"/>
          <p:cNvSpPr/>
          <p:nvPr/>
        </p:nvSpPr>
        <p:spPr>
          <a:xfrm>
            <a:off x="4224875" y="854425"/>
            <a:ext cx="4803000" cy="28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100"/>
              <a:buFont typeface="Arial"/>
              <a:buNone/>
            </a:pPr>
            <a:r>
              <a:rPr b="1" i="0" lang="en-US" sz="13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Post-translational modifications (PTM</a:t>
            </a:r>
            <a:r>
              <a:rPr b="1" lang="en-US" sz="1300">
                <a:solidFill>
                  <a:srgbClr val="1C1917"/>
                </a:solidFill>
              </a:rPr>
              <a:t>s)</a:t>
            </a:r>
            <a:r>
              <a:rPr b="0" i="0" lang="en-US" sz="1300" u="none" cap="none" strike="noStrike">
                <a:solidFill>
                  <a:srgbClr val="292524"/>
                </a:solidFill>
                <a:latin typeface="Arial"/>
                <a:ea typeface="Arial"/>
                <a:cs typeface="Arial"/>
                <a:sym typeface="Arial"/>
              </a:rPr>
              <a:t> (e</a:t>
            </a:r>
            <a:r>
              <a:rPr lang="en-US" sz="1300">
                <a:solidFill>
                  <a:srgbClr val="292524"/>
                </a:solidFill>
              </a:rPr>
              <a:t>.g. </a:t>
            </a:r>
            <a:r>
              <a:rPr b="0" i="0" lang="en-US" sz="1300" u="none" cap="none" strike="noStrike">
                <a:solidFill>
                  <a:srgbClr val="292524"/>
                </a:solidFill>
                <a:latin typeface="Arial"/>
                <a:ea typeface="Arial"/>
                <a:cs typeface="Arial"/>
                <a:sym typeface="Arial"/>
              </a:rPr>
              <a:t>glycosylation, phosphorylation) regulate virtually every cellular process and are central to disease biology</a:t>
            </a:r>
            <a:endParaRPr b="0" i="0" sz="1300" u="none" cap="none" strike="noStrike">
              <a:solidFill>
                <a:srgbClr val="29252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100"/>
              <a:buFont typeface="Arial"/>
              <a:buNone/>
            </a:pPr>
            <a:r>
              <a:t/>
            </a:r>
            <a:endParaRPr sz="500">
              <a:solidFill>
                <a:srgbClr val="292524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1C1917"/>
                </a:solidFill>
              </a:rPr>
              <a:t>The problem:</a:t>
            </a:r>
            <a:r>
              <a:rPr lang="en-US" sz="1300">
                <a:solidFill>
                  <a:srgbClr val="292524"/>
                </a:solidFill>
              </a:rPr>
              <a:t> PTM data is scattered across siloed databases </a:t>
            </a:r>
            <a:endParaRPr sz="1300">
              <a:solidFill>
                <a:srgbClr val="292524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100"/>
              <a:buFont typeface="Arial"/>
              <a:buNone/>
            </a:pPr>
            <a:r>
              <a:t/>
            </a:r>
            <a:endParaRPr sz="500">
              <a:solidFill>
                <a:srgbClr val="292524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1C1917"/>
                </a:solidFill>
              </a:rPr>
              <a:t>CFDE</a:t>
            </a:r>
            <a:r>
              <a:rPr lang="en-US" sz="1300">
                <a:solidFill>
                  <a:srgbClr val="292524"/>
                </a:solidFill>
              </a:rPr>
              <a:t> (Common Fund Data Ecosystem) hosts rich PTM data across multiple Data Coordinating Centers</a:t>
            </a:r>
            <a:endParaRPr sz="1300">
              <a:solidFill>
                <a:srgbClr val="292524"/>
              </a:solidFill>
            </a:endParaRPr>
          </a:p>
          <a:p>
            <a:pPr indent="-3111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92524"/>
              </a:buClr>
              <a:buSzPts val="1300"/>
              <a:buChar char="●"/>
            </a:pPr>
            <a:r>
              <a:rPr b="1" lang="en-US" sz="1300">
                <a:solidFill>
                  <a:srgbClr val="292524"/>
                </a:solidFill>
              </a:rPr>
              <a:t>MoTrPAC</a:t>
            </a:r>
            <a:r>
              <a:rPr lang="en-US" sz="1300">
                <a:solidFill>
                  <a:srgbClr val="292524"/>
                </a:solidFill>
              </a:rPr>
              <a:t> for condition-driven PTM changes</a:t>
            </a:r>
            <a:endParaRPr sz="1300">
              <a:solidFill>
                <a:srgbClr val="292524"/>
              </a:solidFill>
            </a:endParaRPr>
          </a:p>
          <a:p>
            <a:pPr indent="-31115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92524"/>
              </a:buClr>
              <a:buSzPts val="1300"/>
              <a:buChar char="●"/>
            </a:pPr>
            <a:r>
              <a:rPr b="1" lang="en-US" sz="1300">
                <a:solidFill>
                  <a:srgbClr val="292524"/>
                </a:solidFill>
              </a:rPr>
              <a:t>GlyGen</a:t>
            </a:r>
            <a:r>
              <a:rPr lang="en-US" sz="1300">
                <a:solidFill>
                  <a:srgbClr val="292524"/>
                </a:solidFill>
              </a:rPr>
              <a:t> for glycosylation and disease annotations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292524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292524"/>
              </a:solidFill>
            </a:endParaRPr>
          </a:p>
        </p:txBody>
      </p:sp>
      <p:sp>
        <p:nvSpPr>
          <p:cNvPr id="27" name="Google Shape;27;g3a87b670be3_1_0"/>
          <p:cNvSpPr/>
          <p:nvPr/>
        </p:nvSpPr>
        <p:spPr>
          <a:xfrm>
            <a:off x="745000" y="4023900"/>
            <a:ext cx="8072700" cy="624900"/>
          </a:xfrm>
          <a:prstGeom prst="roundRect">
            <a:avLst>
              <a:gd fmla="val 6639" name="adj"/>
            </a:avLst>
          </a:prstGeom>
          <a:solidFill>
            <a:srgbClr val="F5F3FF"/>
          </a:solidFill>
          <a:ln cap="flat" cmpd="sng" w="19050">
            <a:solidFill>
              <a:srgbClr val="C4B5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1C1917"/>
                </a:solidFill>
              </a:rPr>
              <a:t>Our approach:</a:t>
            </a:r>
            <a:r>
              <a:rPr lang="en-US" sz="1300">
                <a:solidFill>
                  <a:srgbClr val="292524"/>
                </a:solidFill>
              </a:rPr>
              <a:t> We built two interactive dashboards using Akleao, an agentic workspace developed by Chase Yakaboski+ prior to Bio-IT World, to mine this data for exploration and generate hypotheses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" name="Google Shape;28;g3a87b670be3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750" y="854413"/>
            <a:ext cx="3689746" cy="2934025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g3a87b670be3_1_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3F08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g3a87b670be3_1_0"/>
          <p:cNvSpPr/>
          <p:nvPr/>
        </p:nvSpPr>
        <p:spPr>
          <a:xfrm>
            <a:off x="4177250" y="-364775"/>
            <a:ext cx="8997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1C1917"/>
                </a:solidFill>
              </a:rPr>
              <a:t>VLADO</a:t>
            </a:r>
            <a:endParaRPr sz="1300">
              <a:solidFill>
                <a:srgbClr val="292524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g3a87b670be3_3_4"/>
          <p:cNvPicPr preferRelativeResize="0"/>
          <p:nvPr/>
        </p:nvPicPr>
        <p:blipFill rotWithShape="1">
          <a:blip r:embed="rId3">
            <a:alphaModFix/>
          </a:blip>
          <a:srcRect b="0" l="0" r="0" t="7201"/>
          <a:stretch/>
        </p:blipFill>
        <p:spPr>
          <a:xfrm>
            <a:off x="-208288" y="126125"/>
            <a:ext cx="9560576" cy="533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g3a87b670be3_3_4"/>
          <p:cNvSpPr/>
          <p:nvPr/>
        </p:nvSpPr>
        <p:spPr>
          <a:xfrm>
            <a:off x="4065900" y="-374300"/>
            <a:ext cx="8997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1C1917"/>
                </a:solidFill>
              </a:rPr>
              <a:t>CHASE</a:t>
            </a:r>
            <a:endParaRPr sz="1300">
              <a:solidFill>
                <a:srgbClr val="292524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a87b670be3_1_76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g3a87b670be3_1_76"/>
          <p:cNvSpPr/>
          <p:nvPr/>
        </p:nvSpPr>
        <p:spPr>
          <a:xfrm>
            <a:off x="167688" y="76425"/>
            <a:ext cx="88089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B2777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DB2777"/>
                </a:solidFill>
                <a:latin typeface="Arial"/>
                <a:ea typeface="Arial"/>
                <a:cs typeface="Arial"/>
                <a:sym typeface="Arial"/>
              </a:rPr>
              <a:t>DASHBOARD </a:t>
            </a:r>
            <a:r>
              <a:rPr b="1" lang="en-US" sz="900">
                <a:solidFill>
                  <a:srgbClr val="DB2777"/>
                </a:solidFill>
              </a:rPr>
              <a:t>1 </a:t>
            </a:r>
            <a:r>
              <a:rPr b="1" i="0" lang="en-US" sz="900" u="none" cap="none" strike="noStrike">
                <a:solidFill>
                  <a:srgbClr val="DB2777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g3a87b670be3_1_76"/>
          <p:cNvSpPr/>
          <p:nvPr/>
        </p:nvSpPr>
        <p:spPr>
          <a:xfrm>
            <a:off x="167538" y="215725"/>
            <a:ext cx="8808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600"/>
              <a:buFont typeface="Arial"/>
              <a:buNone/>
            </a:pPr>
            <a:r>
              <a:rPr b="1" lang="en-US" sz="2800">
                <a:solidFill>
                  <a:srgbClr val="1C1917"/>
                </a:solidFill>
              </a:rPr>
              <a:t>CFDE/</a:t>
            </a:r>
            <a:r>
              <a:rPr b="1" i="0" lang="en-US" sz="28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MoTrPAC PTM Exercise Response Explorer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g3a87b670be3_1_76"/>
          <p:cNvSpPr/>
          <p:nvPr/>
        </p:nvSpPr>
        <p:spPr>
          <a:xfrm>
            <a:off x="312012" y="1257838"/>
            <a:ext cx="15168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900"/>
              <a:buFont typeface="Arial"/>
              <a:buNone/>
            </a:pPr>
            <a:r>
              <a:rPr b="1" i="0" lang="en-US" sz="15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Select Protein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g3a87b670be3_1_76"/>
          <p:cNvSpPr/>
          <p:nvPr/>
        </p:nvSpPr>
        <p:spPr>
          <a:xfrm>
            <a:off x="250899" y="1747163"/>
            <a:ext cx="1949400" cy="950400"/>
          </a:xfrm>
          <a:prstGeom prst="roundRect">
            <a:avLst>
              <a:gd fmla="val 9612" name="adj"/>
            </a:avLst>
          </a:prstGeom>
          <a:solidFill>
            <a:srgbClr val="FDF2F8"/>
          </a:solidFill>
          <a:ln cap="flat" cmpd="sng" w="19050">
            <a:solidFill>
              <a:srgbClr val="DB2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g3a87b670be3_1_76"/>
          <p:cNvSpPr/>
          <p:nvPr/>
        </p:nvSpPr>
        <p:spPr>
          <a:xfrm>
            <a:off x="231404" y="1899266"/>
            <a:ext cx="19884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B2777"/>
              </a:buClr>
              <a:buSzPts val="1000"/>
              <a:buFont typeface="Arial"/>
              <a:buNone/>
            </a:pPr>
            <a:r>
              <a:rPr b="1" i="0" lang="en-US" sz="1300" u="none" cap="none" strike="noStrike">
                <a:solidFill>
                  <a:srgbClr val="DB2777"/>
                </a:solidFill>
                <a:latin typeface="Arial"/>
                <a:ea typeface="Arial"/>
                <a:cs typeface="Arial"/>
                <a:sym typeface="Arial"/>
              </a:rPr>
              <a:t>2,200 Proteins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g3a87b670be3_1_76"/>
          <p:cNvSpPr/>
          <p:nvPr/>
        </p:nvSpPr>
        <p:spPr>
          <a:xfrm>
            <a:off x="167549" y="2182352"/>
            <a:ext cx="19884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8716C"/>
              </a:buClr>
              <a:buSzPts val="700"/>
              <a:buFont typeface="Arial"/>
              <a:buNone/>
            </a:pPr>
            <a:r>
              <a:rPr b="0" i="0" lang="en-US" sz="1100" u="none" cap="none" strike="noStrike">
                <a:solidFill>
                  <a:srgbClr val="78716C"/>
                </a:solidFill>
                <a:latin typeface="Arial"/>
                <a:ea typeface="Arial"/>
                <a:cs typeface="Arial"/>
                <a:sym typeface="Arial"/>
              </a:rPr>
              <a:t>Search by gene symbol </a:t>
            </a:r>
            <a:r>
              <a:rPr lang="en-US" sz="1100">
                <a:solidFill>
                  <a:srgbClr val="78716C"/>
                </a:solidFill>
              </a:rPr>
              <a:t>or UniProt accession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8716C"/>
              </a:buClr>
              <a:buSzPts val="700"/>
              <a:buFont typeface="Arial"/>
              <a:buNone/>
            </a:pPr>
            <a:r>
              <a:t/>
            </a:r>
            <a:endParaRPr sz="1100">
              <a:solidFill>
                <a:srgbClr val="78716C"/>
              </a:solidFill>
            </a:endParaRPr>
          </a:p>
        </p:txBody>
      </p:sp>
      <p:cxnSp>
        <p:nvCxnSpPr>
          <p:cNvPr id="50" name="Google Shape;50;g3a87b670be3_1_76"/>
          <p:cNvCxnSpPr/>
          <p:nvPr/>
        </p:nvCxnSpPr>
        <p:spPr>
          <a:xfrm>
            <a:off x="2428443" y="2565499"/>
            <a:ext cx="57300" cy="0"/>
          </a:xfrm>
          <a:prstGeom prst="straightConnector1">
            <a:avLst/>
          </a:prstGeom>
          <a:noFill/>
          <a:ln cap="flat" cmpd="sng" w="476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" name="Google Shape;51;g3a87b670be3_1_76"/>
          <p:cNvCxnSpPr/>
          <p:nvPr/>
        </p:nvCxnSpPr>
        <p:spPr>
          <a:xfrm>
            <a:off x="2428443" y="2613124"/>
            <a:ext cx="57300" cy="0"/>
          </a:xfrm>
          <a:prstGeom prst="straightConnector1">
            <a:avLst/>
          </a:prstGeom>
          <a:noFill/>
          <a:ln cap="flat" cmpd="sng" w="476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" name="Google Shape;52;g3a87b670be3_1_76"/>
          <p:cNvSpPr/>
          <p:nvPr/>
        </p:nvSpPr>
        <p:spPr>
          <a:xfrm>
            <a:off x="2375144" y="1264223"/>
            <a:ext cx="22065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900"/>
              <a:buFont typeface="Arial"/>
              <a:buNone/>
            </a:pPr>
            <a:r>
              <a:rPr b="1" i="0" lang="en-US" sz="15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Compare Conditions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g3a87b670be3_1_76"/>
          <p:cNvSpPr/>
          <p:nvPr/>
        </p:nvSpPr>
        <p:spPr>
          <a:xfrm>
            <a:off x="2485750" y="1798824"/>
            <a:ext cx="1949400" cy="474900"/>
          </a:xfrm>
          <a:prstGeom prst="roundRect">
            <a:avLst>
              <a:gd fmla="val 16050" name="adj"/>
            </a:avLst>
          </a:prstGeom>
          <a:solidFill>
            <a:srgbClr val="22D3EE">
              <a:alpha val="7840"/>
            </a:srgbClr>
          </a:solidFill>
          <a:ln cap="flat" cmpd="sng" w="19050">
            <a:solidFill>
              <a:srgbClr val="22D3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Condition A </a:t>
            </a:r>
            <a:endParaRPr b="1"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Sex + Timepoint +Tissue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g3a87b670be3_1_76"/>
          <p:cNvSpPr/>
          <p:nvPr/>
        </p:nvSpPr>
        <p:spPr>
          <a:xfrm>
            <a:off x="3235680" y="2432813"/>
            <a:ext cx="475800" cy="355500"/>
          </a:xfrm>
          <a:prstGeom prst="roundRect">
            <a:avLst>
              <a:gd fmla="val 80050" name="adj"/>
            </a:avLst>
          </a:prstGeom>
          <a:solidFill>
            <a:schemeClr val="lt2"/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vs</a:t>
            </a:r>
            <a:endParaRPr b="1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g3a87b670be3_1_76"/>
          <p:cNvSpPr/>
          <p:nvPr/>
        </p:nvSpPr>
        <p:spPr>
          <a:xfrm>
            <a:off x="2503705" y="2947403"/>
            <a:ext cx="1949400" cy="474900"/>
          </a:xfrm>
          <a:prstGeom prst="roundRect">
            <a:avLst>
              <a:gd fmla="val 16050" name="adj"/>
            </a:avLst>
          </a:prstGeom>
          <a:solidFill>
            <a:srgbClr val="F59E0B">
              <a:alpha val="7840"/>
            </a:srgbClr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1"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Condition B </a:t>
            </a:r>
            <a:endParaRPr b="1"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Sex + Timepoint +Tissue</a:t>
            </a:r>
            <a:endParaRPr b="1"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" name="Google Shape;56;g3a87b670be3_1_76"/>
          <p:cNvCxnSpPr/>
          <p:nvPr/>
        </p:nvCxnSpPr>
        <p:spPr>
          <a:xfrm>
            <a:off x="4377860" y="2538044"/>
            <a:ext cx="57300" cy="0"/>
          </a:xfrm>
          <a:prstGeom prst="straightConnector1">
            <a:avLst/>
          </a:prstGeom>
          <a:noFill/>
          <a:ln cap="flat" cmpd="sng" w="476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g3a87b670be3_1_76"/>
          <p:cNvCxnSpPr/>
          <p:nvPr/>
        </p:nvCxnSpPr>
        <p:spPr>
          <a:xfrm>
            <a:off x="4377860" y="2585669"/>
            <a:ext cx="57300" cy="0"/>
          </a:xfrm>
          <a:prstGeom prst="straightConnector1">
            <a:avLst/>
          </a:prstGeom>
          <a:noFill/>
          <a:ln cap="flat" cmpd="sng" w="476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g3a87b670be3_1_76"/>
          <p:cNvSpPr/>
          <p:nvPr/>
        </p:nvSpPr>
        <p:spPr>
          <a:xfrm>
            <a:off x="4885575" y="1265775"/>
            <a:ext cx="16551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900"/>
              <a:buFont typeface="Arial"/>
              <a:buNone/>
            </a:pPr>
            <a:r>
              <a:rPr b="1" i="0" lang="en-US" sz="15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Data Dimensions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g3a87b670be3_1_76"/>
          <p:cNvSpPr/>
          <p:nvPr/>
        </p:nvSpPr>
        <p:spPr>
          <a:xfrm>
            <a:off x="5081481" y="2029345"/>
            <a:ext cx="7296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9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g3a87b670be3_1_76"/>
          <p:cNvSpPr/>
          <p:nvPr/>
        </p:nvSpPr>
        <p:spPr>
          <a:xfrm>
            <a:off x="4873328" y="2455158"/>
            <a:ext cx="9069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9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" name="Google Shape;61;g3a87b670be3_1_76"/>
          <p:cNvCxnSpPr/>
          <p:nvPr/>
        </p:nvCxnSpPr>
        <p:spPr>
          <a:xfrm>
            <a:off x="6589150" y="2538032"/>
            <a:ext cx="57300" cy="0"/>
          </a:xfrm>
          <a:prstGeom prst="straightConnector1">
            <a:avLst/>
          </a:prstGeom>
          <a:noFill/>
          <a:ln cap="flat" cmpd="sng" w="476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g3a87b670be3_1_76"/>
          <p:cNvCxnSpPr/>
          <p:nvPr/>
        </p:nvCxnSpPr>
        <p:spPr>
          <a:xfrm>
            <a:off x="6589150" y="2585657"/>
            <a:ext cx="57300" cy="0"/>
          </a:xfrm>
          <a:prstGeom prst="straightConnector1">
            <a:avLst/>
          </a:prstGeom>
          <a:noFill/>
          <a:ln cap="flat" cmpd="sng" w="476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g3a87b670be3_1_76"/>
          <p:cNvSpPr/>
          <p:nvPr/>
        </p:nvSpPr>
        <p:spPr>
          <a:xfrm>
            <a:off x="7861548" y="771376"/>
            <a:ext cx="576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g3a87b670be3_1_76"/>
          <p:cNvSpPr/>
          <p:nvPr/>
        </p:nvSpPr>
        <p:spPr>
          <a:xfrm>
            <a:off x="6964152" y="1274400"/>
            <a:ext cx="18489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900"/>
              <a:buFont typeface="Arial"/>
              <a:buNone/>
            </a:pPr>
            <a:r>
              <a:rPr b="1" i="0" lang="en-US" sz="15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Explore Outputs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g3a87b670be3_1_76"/>
          <p:cNvSpPr/>
          <p:nvPr/>
        </p:nvSpPr>
        <p:spPr>
          <a:xfrm>
            <a:off x="312000" y="3990825"/>
            <a:ext cx="8407500" cy="781800"/>
          </a:xfrm>
          <a:prstGeom prst="roundRect">
            <a:avLst>
              <a:gd fmla="val 13959" name="adj"/>
            </a:avLst>
          </a:prstGeom>
          <a:solidFill>
            <a:srgbClr val="FDF3F8"/>
          </a:solidFill>
          <a:ln cap="flat" cmpd="sng" w="19050">
            <a:solidFill>
              <a:srgbClr val="DC2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g3a87b670be3_1_76"/>
          <p:cNvSpPr/>
          <p:nvPr/>
        </p:nvSpPr>
        <p:spPr>
          <a:xfrm>
            <a:off x="342900" y="4132299"/>
            <a:ext cx="8407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800"/>
              <a:buFont typeface="Arial"/>
              <a:buNone/>
            </a:pPr>
            <a:r>
              <a:rPr b="1" i="0" lang="en-US" sz="1250" u="none" cap="none" strike="noStrike">
                <a:solidFill>
                  <a:srgbClr val="DC2777"/>
                </a:solidFill>
                <a:latin typeface="Arial"/>
                <a:ea typeface="Arial"/>
                <a:cs typeface="Arial"/>
                <a:sym typeface="Arial"/>
              </a:rPr>
              <a:t>MoTrPAC PTM Explorer</a:t>
            </a:r>
            <a:r>
              <a:rPr b="0" i="0" lang="en-US" sz="1250" u="none" cap="none" strike="noStrike">
                <a:solidFill>
                  <a:srgbClr val="44403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250" u="none" cap="none" strike="noStrike">
                <a:solidFill>
                  <a:srgbClr val="44403C"/>
                </a:solidFill>
              </a:rPr>
              <a:t>lets you pick any protein, define two exercise conditions (sex, timepoint, tissue), and instantly compare site-level PTM fold-changes across phosphorylation, acetylation, and ubiquitylation.</a:t>
            </a:r>
            <a:endParaRPr b="1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g3a87b670be3_1_76"/>
          <p:cNvSpPr/>
          <p:nvPr/>
        </p:nvSpPr>
        <p:spPr>
          <a:xfrm>
            <a:off x="4954713" y="1680550"/>
            <a:ext cx="1516800" cy="367200"/>
          </a:xfrm>
          <a:prstGeom prst="roundRect">
            <a:avLst>
              <a:gd fmla="val 54584" name="adj"/>
            </a:avLst>
          </a:prstGeom>
          <a:solidFill>
            <a:srgbClr val="FDF2F8"/>
          </a:solidFill>
          <a:ln cap="flat" cmpd="sng" w="12500">
            <a:solidFill>
              <a:srgbClr val="DC2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025" lIns="120125" spcFirstLastPara="1" rIns="120125" wrap="square" tIns="60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Tissues</a:t>
            </a:r>
            <a:endParaRPr b="1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g3a87b670be3_1_76"/>
          <p:cNvSpPr/>
          <p:nvPr/>
        </p:nvSpPr>
        <p:spPr>
          <a:xfrm>
            <a:off x="4954713" y="2101569"/>
            <a:ext cx="1516800" cy="367200"/>
          </a:xfrm>
          <a:prstGeom prst="roundRect">
            <a:avLst>
              <a:gd fmla="val 54584" name="adj"/>
            </a:avLst>
          </a:prstGeom>
          <a:solidFill>
            <a:srgbClr val="FDF2F8"/>
          </a:solidFill>
          <a:ln cap="flat" cmpd="sng" w="12500">
            <a:solidFill>
              <a:srgbClr val="DC2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025" lIns="120125" spcFirstLastPara="1" rIns="120125" wrap="square" tIns="60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PTM Types</a:t>
            </a:r>
            <a:endParaRPr b="1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g3a87b670be3_1_76"/>
          <p:cNvSpPr/>
          <p:nvPr/>
        </p:nvSpPr>
        <p:spPr>
          <a:xfrm>
            <a:off x="4954713" y="2526968"/>
            <a:ext cx="1516800" cy="367200"/>
          </a:xfrm>
          <a:prstGeom prst="roundRect">
            <a:avLst>
              <a:gd fmla="val 54584" name="adj"/>
            </a:avLst>
          </a:prstGeom>
          <a:solidFill>
            <a:srgbClr val="FDF2F8"/>
          </a:solidFill>
          <a:ln cap="flat" cmpd="sng" w="12500">
            <a:solidFill>
              <a:srgbClr val="DC2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025" lIns="120125" spcFirstLastPara="1" rIns="120125" wrap="square" tIns="60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Timepoints</a:t>
            </a:r>
            <a:endParaRPr b="1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g3a87b670be3_1_76"/>
          <p:cNvSpPr/>
          <p:nvPr/>
        </p:nvSpPr>
        <p:spPr>
          <a:xfrm>
            <a:off x="4954713" y="2947379"/>
            <a:ext cx="1516800" cy="367200"/>
          </a:xfrm>
          <a:prstGeom prst="roundRect">
            <a:avLst>
              <a:gd fmla="val 54584" name="adj"/>
            </a:avLst>
          </a:prstGeom>
          <a:solidFill>
            <a:srgbClr val="FDF2F8"/>
          </a:solidFill>
          <a:ln cap="flat" cmpd="sng" w="12500">
            <a:solidFill>
              <a:srgbClr val="DC2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025" lIns="120125" spcFirstLastPara="1" rIns="120125" wrap="square" tIns="60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Sexes</a:t>
            </a:r>
            <a:endParaRPr b="1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g3a87b670be3_1_76"/>
          <p:cNvSpPr/>
          <p:nvPr/>
        </p:nvSpPr>
        <p:spPr>
          <a:xfrm>
            <a:off x="4954713" y="3360625"/>
            <a:ext cx="1516800" cy="367200"/>
          </a:xfrm>
          <a:prstGeom prst="roundRect">
            <a:avLst>
              <a:gd fmla="val 54584" name="adj"/>
            </a:avLst>
          </a:prstGeom>
          <a:solidFill>
            <a:srgbClr val="FDF2F8"/>
          </a:solidFill>
          <a:ln cap="flat" cmpd="sng" w="12500">
            <a:solidFill>
              <a:srgbClr val="DC2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025" lIns="120125" spcFirstLastPara="1" rIns="120125" wrap="square" tIns="60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41,816</a:t>
            </a:r>
            <a:r>
              <a:rPr b="1"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Records</a:t>
            </a:r>
            <a:endParaRPr b="1"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2" name="Google Shape;72;g3a87b670be3_1_76"/>
          <p:cNvGrpSpPr/>
          <p:nvPr/>
        </p:nvGrpSpPr>
        <p:grpSpPr>
          <a:xfrm>
            <a:off x="868623" y="736206"/>
            <a:ext cx="403548" cy="403548"/>
            <a:chOff x="1088975" y="714226"/>
            <a:chExt cx="228600" cy="228600"/>
          </a:xfrm>
        </p:grpSpPr>
        <p:sp>
          <p:nvSpPr>
            <p:cNvPr id="73" name="Google Shape;73;g3a87b670be3_1_76"/>
            <p:cNvSpPr/>
            <p:nvPr/>
          </p:nvSpPr>
          <p:spPr>
            <a:xfrm>
              <a:off x="1088975" y="714226"/>
              <a:ext cx="228600" cy="228600"/>
            </a:xfrm>
            <a:prstGeom prst="roundRect">
              <a:avLst>
                <a:gd fmla="val 40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80675" lIns="161400" spcFirstLastPara="1" rIns="161400" wrap="square" tIns="806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177"/>
                <a:buFont typeface="Calibri"/>
                <a:buNone/>
              </a:pPr>
              <a:r>
                <a:t/>
              </a:r>
              <a:endParaRPr b="0" i="0" sz="317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g3a87b670be3_1_76"/>
            <p:cNvSpPr/>
            <p:nvPr/>
          </p:nvSpPr>
          <p:spPr>
            <a:xfrm>
              <a:off x="1174998" y="771376"/>
              <a:ext cx="57600" cy="1143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12"/>
                <a:buFont typeface="Arial"/>
                <a:buNone/>
              </a:pPr>
              <a:r>
                <a:rPr b="1" i="0" lang="en-US" sz="1412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1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5" name="Google Shape;75;g3a87b670be3_1_76"/>
          <p:cNvGrpSpPr/>
          <p:nvPr/>
        </p:nvGrpSpPr>
        <p:grpSpPr>
          <a:xfrm>
            <a:off x="3258673" y="770043"/>
            <a:ext cx="403548" cy="403548"/>
            <a:chOff x="1088975" y="714226"/>
            <a:chExt cx="228600" cy="228600"/>
          </a:xfrm>
        </p:grpSpPr>
        <p:sp>
          <p:nvSpPr>
            <p:cNvPr id="76" name="Google Shape;76;g3a87b670be3_1_76"/>
            <p:cNvSpPr/>
            <p:nvPr/>
          </p:nvSpPr>
          <p:spPr>
            <a:xfrm>
              <a:off x="1088975" y="714226"/>
              <a:ext cx="228600" cy="228600"/>
            </a:xfrm>
            <a:prstGeom prst="roundRect">
              <a:avLst>
                <a:gd fmla="val 40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80675" lIns="161400" spcFirstLastPara="1" rIns="161400" wrap="square" tIns="806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177"/>
                <a:buFont typeface="Calibri"/>
                <a:buNone/>
              </a:pPr>
              <a:r>
                <a:t/>
              </a:r>
              <a:endParaRPr b="0" i="0" sz="317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g3a87b670be3_1_76"/>
            <p:cNvSpPr/>
            <p:nvPr/>
          </p:nvSpPr>
          <p:spPr>
            <a:xfrm>
              <a:off x="1174998" y="771376"/>
              <a:ext cx="57600" cy="1143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12"/>
                <a:buFont typeface="Arial"/>
                <a:buNone/>
              </a:pPr>
              <a:r>
                <a:rPr b="1" i="0" lang="en-US" sz="1412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1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8" name="Google Shape;78;g3a87b670be3_1_76"/>
          <p:cNvGrpSpPr/>
          <p:nvPr/>
        </p:nvGrpSpPr>
        <p:grpSpPr>
          <a:xfrm>
            <a:off x="5511348" y="797768"/>
            <a:ext cx="403548" cy="403548"/>
            <a:chOff x="1088975" y="714226"/>
            <a:chExt cx="228600" cy="228600"/>
          </a:xfrm>
        </p:grpSpPr>
        <p:sp>
          <p:nvSpPr>
            <p:cNvPr id="79" name="Google Shape;79;g3a87b670be3_1_76"/>
            <p:cNvSpPr/>
            <p:nvPr/>
          </p:nvSpPr>
          <p:spPr>
            <a:xfrm>
              <a:off x="1088975" y="714226"/>
              <a:ext cx="228600" cy="228600"/>
            </a:xfrm>
            <a:prstGeom prst="roundRect">
              <a:avLst>
                <a:gd fmla="val 40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80675" lIns="161400" spcFirstLastPara="1" rIns="161400" wrap="square" tIns="806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177"/>
                <a:buFont typeface="Calibri"/>
                <a:buNone/>
              </a:pPr>
              <a:r>
                <a:t/>
              </a:r>
              <a:endParaRPr b="0" i="0" sz="317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g3a87b670be3_1_76"/>
            <p:cNvSpPr/>
            <p:nvPr/>
          </p:nvSpPr>
          <p:spPr>
            <a:xfrm>
              <a:off x="1174998" y="771376"/>
              <a:ext cx="57600" cy="1143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12"/>
                <a:buFont typeface="Arial"/>
                <a:buNone/>
              </a:pPr>
              <a:r>
                <a:rPr b="1" i="0" lang="en-US" sz="1412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1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1" name="Google Shape;81;g3a87b670be3_1_76"/>
          <p:cNvGrpSpPr/>
          <p:nvPr/>
        </p:nvGrpSpPr>
        <p:grpSpPr>
          <a:xfrm>
            <a:off x="7593048" y="770043"/>
            <a:ext cx="403548" cy="403548"/>
            <a:chOff x="1088975" y="714226"/>
            <a:chExt cx="228600" cy="228600"/>
          </a:xfrm>
        </p:grpSpPr>
        <p:sp>
          <p:nvSpPr>
            <p:cNvPr id="82" name="Google Shape;82;g3a87b670be3_1_76"/>
            <p:cNvSpPr/>
            <p:nvPr/>
          </p:nvSpPr>
          <p:spPr>
            <a:xfrm>
              <a:off x="1088975" y="714226"/>
              <a:ext cx="228600" cy="228600"/>
            </a:xfrm>
            <a:prstGeom prst="roundRect">
              <a:avLst>
                <a:gd fmla="val 40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80675" lIns="161400" spcFirstLastPara="1" rIns="161400" wrap="square" tIns="806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177"/>
                <a:buFont typeface="Calibri"/>
                <a:buNone/>
              </a:pPr>
              <a:r>
                <a:t/>
              </a:r>
              <a:endParaRPr b="0" i="0" sz="317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g3a87b670be3_1_76"/>
            <p:cNvSpPr/>
            <p:nvPr/>
          </p:nvSpPr>
          <p:spPr>
            <a:xfrm>
              <a:off x="1174998" y="771376"/>
              <a:ext cx="57600" cy="1143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12"/>
                <a:buFont typeface="Arial"/>
                <a:buNone/>
              </a:pPr>
              <a:r>
                <a:rPr b="1" i="0" lang="en-US" sz="1412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12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4" name="Google Shape;84;g3a87b670be3_1_76"/>
          <p:cNvSpPr/>
          <p:nvPr/>
        </p:nvSpPr>
        <p:spPr>
          <a:xfrm>
            <a:off x="7131950" y="1680563"/>
            <a:ext cx="1516800" cy="367200"/>
          </a:xfrm>
          <a:prstGeom prst="roundRect">
            <a:avLst>
              <a:gd fmla="val 54584" name="adj"/>
            </a:avLst>
          </a:prstGeom>
          <a:solidFill>
            <a:srgbClr val="FDF2F8"/>
          </a:solidFill>
          <a:ln cap="flat" cmpd="sng" w="12500">
            <a:solidFill>
              <a:srgbClr val="DC2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025" lIns="120125" spcFirstLastPara="1" rIns="120125" wrap="square" tIns="60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Positional Chart</a:t>
            </a:r>
            <a:endParaRPr b="1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g3a87b670be3_1_76"/>
          <p:cNvSpPr/>
          <p:nvPr/>
        </p:nvSpPr>
        <p:spPr>
          <a:xfrm>
            <a:off x="7131950" y="2101581"/>
            <a:ext cx="1516800" cy="367200"/>
          </a:xfrm>
          <a:prstGeom prst="roundRect">
            <a:avLst>
              <a:gd fmla="val 54584" name="adj"/>
            </a:avLst>
          </a:prstGeom>
          <a:solidFill>
            <a:srgbClr val="FDF2F8"/>
          </a:solidFill>
          <a:ln cap="flat" cmpd="sng" w="12500">
            <a:solidFill>
              <a:srgbClr val="DC2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025" lIns="120125" spcFirstLastPara="1" rIns="120125" wrap="square" tIns="60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Site Detail Type</a:t>
            </a:r>
            <a:endParaRPr b="1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g3a87b670be3_1_76"/>
          <p:cNvSpPr/>
          <p:nvPr/>
        </p:nvSpPr>
        <p:spPr>
          <a:xfrm>
            <a:off x="7131950" y="2526980"/>
            <a:ext cx="1516800" cy="367200"/>
          </a:xfrm>
          <a:prstGeom prst="roundRect">
            <a:avLst>
              <a:gd fmla="val 54584" name="adj"/>
            </a:avLst>
          </a:prstGeom>
          <a:solidFill>
            <a:srgbClr val="FDF2F8"/>
          </a:solidFill>
          <a:ln cap="flat" cmpd="sng" w="12500">
            <a:solidFill>
              <a:srgbClr val="DC2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025" lIns="120125" spcFirstLastPara="1" rIns="120125" wrap="square" tIns="60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3D Structure </a:t>
            </a:r>
            <a:endParaRPr b="1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g3a87b670be3_1_76"/>
          <p:cNvSpPr/>
          <p:nvPr/>
        </p:nvSpPr>
        <p:spPr>
          <a:xfrm>
            <a:off x="7131950" y="2947392"/>
            <a:ext cx="1516800" cy="367200"/>
          </a:xfrm>
          <a:prstGeom prst="roundRect">
            <a:avLst>
              <a:gd fmla="val 54584" name="adj"/>
            </a:avLst>
          </a:prstGeom>
          <a:solidFill>
            <a:srgbClr val="FDF2F8"/>
          </a:solidFill>
          <a:ln cap="flat" cmpd="sng" w="12500">
            <a:solidFill>
              <a:srgbClr val="DC2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025" lIns="120125" spcFirstLastPara="1" rIns="120125" wrap="square" tIns="60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PTM Network</a:t>
            </a:r>
            <a:endParaRPr b="1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g3a87b670be3_1_76"/>
          <p:cNvSpPr/>
          <p:nvPr/>
        </p:nvSpPr>
        <p:spPr>
          <a:xfrm>
            <a:off x="7131950" y="3360638"/>
            <a:ext cx="1516800" cy="367200"/>
          </a:xfrm>
          <a:prstGeom prst="roundRect">
            <a:avLst>
              <a:gd fmla="val 54584" name="adj"/>
            </a:avLst>
          </a:prstGeom>
          <a:solidFill>
            <a:srgbClr val="FDF2F8"/>
          </a:solidFill>
          <a:ln cap="flat" cmpd="sng" w="12500">
            <a:solidFill>
              <a:srgbClr val="DC27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025" lIns="120125" spcFirstLastPara="1" rIns="120125" wrap="square" tIns="60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CSV Export</a:t>
            </a:r>
            <a:endParaRPr b="1"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g3a87b670be3_1_76"/>
          <p:cNvSpPr/>
          <p:nvPr/>
        </p:nvSpPr>
        <p:spPr>
          <a:xfrm>
            <a:off x="4065900" y="-374300"/>
            <a:ext cx="8997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1C1917"/>
                </a:solidFill>
              </a:rPr>
              <a:t>JANA</a:t>
            </a:r>
            <a:endParaRPr sz="1300">
              <a:solidFill>
                <a:srgbClr val="292524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87b670be3_0_228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3a87b670be3_0_228"/>
          <p:cNvSpPr/>
          <p:nvPr/>
        </p:nvSpPr>
        <p:spPr>
          <a:xfrm>
            <a:off x="348900" y="84750"/>
            <a:ext cx="16128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B2777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DB2777"/>
                </a:solidFill>
                <a:latin typeface="Arial"/>
                <a:ea typeface="Arial"/>
                <a:cs typeface="Arial"/>
                <a:sym typeface="Arial"/>
              </a:rPr>
              <a:t>DASHBOARD </a:t>
            </a:r>
            <a:r>
              <a:rPr b="1" lang="en-US" sz="1000">
                <a:solidFill>
                  <a:srgbClr val="DB2777"/>
                </a:solidFill>
              </a:rPr>
              <a:t>1 DEMO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g3a87b670be3_0_228"/>
          <p:cNvSpPr/>
          <p:nvPr/>
        </p:nvSpPr>
        <p:spPr>
          <a:xfrm>
            <a:off x="348900" y="274700"/>
            <a:ext cx="85893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2000"/>
              <a:buFont typeface="Arial"/>
              <a:buNone/>
            </a:pPr>
            <a:r>
              <a:rPr b="1" i="0" lang="en-US" sz="26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MoTrPAC PTM Exercise Response Explorer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3a87b670be3_0_228"/>
          <p:cNvSpPr/>
          <p:nvPr/>
        </p:nvSpPr>
        <p:spPr>
          <a:xfrm>
            <a:off x="3319600" y="2051950"/>
            <a:ext cx="20529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g3a87b670be3_0_228"/>
          <p:cNvPicPr preferRelativeResize="0"/>
          <p:nvPr/>
        </p:nvPicPr>
        <p:blipFill rotWithShape="1">
          <a:blip r:embed="rId3">
            <a:alphaModFix/>
          </a:blip>
          <a:srcRect b="9623" l="3188" r="3319" t="14729"/>
          <a:stretch/>
        </p:blipFill>
        <p:spPr>
          <a:xfrm>
            <a:off x="348900" y="710313"/>
            <a:ext cx="8294876" cy="4034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g3a87b670be3_0_228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97875" y="787055"/>
            <a:ext cx="3188550" cy="3171397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7920000" dist="123825">
              <a:srgbClr val="000000">
                <a:alpha val="50000"/>
              </a:srgbClr>
            </a:outerShdw>
          </a:effectLst>
        </p:spPr>
      </p:pic>
      <p:sp>
        <p:nvSpPr>
          <p:cNvPr id="101" name="Google Shape;101;g3a87b670be3_0_228"/>
          <p:cNvSpPr/>
          <p:nvPr/>
        </p:nvSpPr>
        <p:spPr>
          <a:xfrm>
            <a:off x="4065900" y="-374300"/>
            <a:ext cx="8997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1C1917"/>
                </a:solidFill>
              </a:rPr>
              <a:t>JANA</a:t>
            </a:r>
            <a:endParaRPr sz="1300">
              <a:solidFill>
                <a:srgbClr val="292524"/>
              </a:solidFill>
            </a:endParaRPr>
          </a:p>
        </p:txBody>
      </p:sp>
      <p:grpSp>
        <p:nvGrpSpPr>
          <p:cNvPr id="102" name="Google Shape;102;g3a87b670be3_0_228"/>
          <p:cNvGrpSpPr/>
          <p:nvPr/>
        </p:nvGrpSpPr>
        <p:grpSpPr>
          <a:xfrm>
            <a:off x="1773525" y="4134800"/>
            <a:ext cx="4208175" cy="876650"/>
            <a:chOff x="506700" y="4134800"/>
            <a:chExt cx="4208175" cy="876650"/>
          </a:xfrm>
        </p:grpSpPr>
        <p:sp>
          <p:nvSpPr>
            <p:cNvPr id="103" name="Google Shape;103;g3a87b670be3_0_228"/>
            <p:cNvSpPr/>
            <p:nvPr/>
          </p:nvSpPr>
          <p:spPr>
            <a:xfrm>
              <a:off x="600075" y="4180150"/>
              <a:ext cx="4114800" cy="831300"/>
            </a:xfrm>
            <a:prstGeom prst="roundRect">
              <a:avLst>
                <a:gd fmla="val 16667" name="adj"/>
              </a:avLst>
            </a:prstGeom>
            <a:solidFill>
              <a:srgbClr val="FDF3F8"/>
            </a:solidFill>
            <a:ln cap="flat" cmpd="sng" w="19050">
              <a:solidFill>
                <a:srgbClr val="DC277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g3a87b670be3_0_228"/>
            <p:cNvSpPr txBox="1"/>
            <p:nvPr/>
          </p:nvSpPr>
          <p:spPr>
            <a:xfrm>
              <a:off x="506700" y="4134800"/>
              <a:ext cx="41682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/>
                <a:t>Next Steps:</a:t>
              </a:r>
              <a:endParaRPr/>
            </a:p>
            <a:p>
              <a:pPr indent="-317500" lvl="0" marL="457200" rtl="0" algn="ctr">
                <a:spcBef>
                  <a:spcPts val="0"/>
                </a:spcBef>
                <a:spcAft>
                  <a:spcPts val="0"/>
                </a:spcAft>
                <a:buSzPts val="1400"/>
                <a:buChar char="●"/>
              </a:pPr>
              <a:r>
                <a:rPr lang="en-US"/>
                <a:t>Correlate perturbations to function</a:t>
              </a:r>
              <a:endParaRPr/>
            </a:p>
            <a:p>
              <a:pPr indent="-317500" lvl="0" marL="457200" rtl="0" algn="ctr">
                <a:spcBef>
                  <a:spcPts val="0"/>
                </a:spcBef>
                <a:spcAft>
                  <a:spcPts val="0"/>
                </a:spcAft>
                <a:buSzPts val="1400"/>
                <a:buChar char="●"/>
              </a:pPr>
              <a:r>
                <a:rPr lang="en-US"/>
                <a:t>Add protein-protein interaction information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87b670be3_6_7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3a87b670be3_6_7"/>
          <p:cNvSpPr/>
          <p:nvPr/>
        </p:nvSpPr>
        <p:spPr>
          <a:xfrm>
            <a:off x="228600" y="82525"/>
            <a:ext cx="8808900" cy="1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DASHBOARD 2 ARCHITECTURE</a:t>
            </a:r>
            <a:endParaRPr b="0" i="0" sz="900" u="none" cap="none" strike="noStrike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a87b670be3_6_7"/>
          <p:cNvSpPr/>
          <p:nvPr/>
        </p:nvSpPr>
        <p:spPr>
          <a:xfrm>
            <a:off x="253200" y="215725"/>
            <a:ext cx="88089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600"/>
              <a:buFont typeface="Arial"/>
              <a:buNone/>
            </a:pPr>
            <a:r>
              <a:rPr b="1" i="0" lang="en-US" sz="28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CFDE/GlyGen PTM Disease-Tissue Explorer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3" name="Google Shape;113;g3a87b670be3_6_7"/>
          <p:cNvGrpSpPr/>
          <p:nvPr/>
        </p:nvGrpSpPr>
        <p:grpSpPr>
          <a:xfrm>
            <a:off x="1311869" y="654971"/>
            <a:ext cx="375338" cy="375338"/>
            <a:chOff x="1088975" y="714226"/>
            <a:chExt cx="228600" cy="228600"/>
          </a:xfrm>
        </p:grpSpPr>
        <p:sp>
          <p:nvSpPr>
            <p:cNvPr id="114" name="Google Shape;114;g3a87b670be3_6_7"/>
            <p:cNvSpPr/>
            <p:nvPr/>
          </p:nvSpPr>
          <p:spPr>
            <a:xfrm>
              <a:off x="1088975" y="714226"/>
              <a:ext cx="228600" cy="228600"/>
            </a:xfrm>
            <a:prstGeom prst="roundRect">
              <a:avLst>
                <a:gd fmla="val 40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75025" lIns="150125" spcFirstLastPara="1" rIns="150125" wrap="square" tIns="750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955"/>
                <a:buFont typeface="Calibri"/>
                <a:buNone/>
              </a:pPr>
              <a:r>
                <a:t/>
              </a:r>
              <a:endParaRPr b="0" i="0" sz="295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g3a87b670be3_6_7"/>
            <p:cNvSpPr/>
            <p:nvPr/>
          </p:nvSpPr>
          <p:spPr>
            <a:xfrm>
              <a:off x="1174998" y="771376"/>
              <a:ext cx="57600" cy="1143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14"/>
                <a:buFont typeface="Arial"/>
                <a:buNone/>
              </a:pPr>
              <a:r>
                <a:rPr b="1" i="0" lang="en-US" sz="131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31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6" name="Google Shape;116;g3a87b670be3_6_7"/>
          <p:cNvSpPr/>
          <p:nvPr/>
        </p:nvSpPr>
        <p:spPr>
          <a:xfrm>
            <a:off x="430325" y="1093625"/>
            <a:ext cx="22296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900"/>
              <a:buFont typeface="Arial"/>
              <a:buNone/>
            </a:pPr>
            <a:r>
              <a:rPr b="1" i="0" lang="en-US" sz="15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Data Sources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7" name="Google Shape;117;g3a87b670be3_6_7"/>
          <p:cNvGrpSpPr/>
          <p:nvPr/>
        </p:nvGrpSpPr>
        <p:grpSpPr>
          <a:xfrm>
            <a:off x="430317" y="1395145"/>
            <a:ext cx="2319591" cy="2304201"/>
            <a:chOff x="228600" y="1203127"/>
            <a:chExt cx="1949400" cy="1936303"/>
          </a:xfrm>
        </p:grpSpPr>
        <p:sp>
          <p:nvSpPr>
            <p:cNvPr id="118" name="Google Shape;118;g3a87b670be3_6_7"/>
            <p:cNvSpPr/>
            <p:nvPr/>
          </p:nvSpPr>
          <p:spPr>
            <a:xfrm>
              <a:off x="228600" y="1203127"/>
              <a:ext cx="1949400" cy="507900"/>
            </a:xfrm>
            <a:prstGeom prst="roundRect">
              <a:avLst>
                <a:gd fmla="val 15001" name="adj"/>
              </a:avLst>
            </a:prstGeom>
            <a:solidFill>
              <a:srgbClr val="DBE8FF"/>
            </a:solidFill>
            <a:ln cap="flat" cmpd="sng" w="2267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375" lIns="108800" spcFirstLastPara="1" rIns="108800" wrap="square" tIns="543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42"/>
                <a:buFont typeface="Calibri"/>
                <a:buNone/>
              </a:pPr>
              <a:r>
                <a:t/>
              </a:r>
              <a:endParaRPr b="0" i="0" sz="23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g3a87b670be3_6_7"/>
            <p:cNvSpPr/>
            <p:nvPr/>
          </p:nvSpPr>
          <p:spPr>
            <a:xfrm>
              <a:off x="332067" y="1311027"/>
              <a:ext cx="1742700" cy="114300"/>
            </a:xfrm>
            <a:prstGeom prst="rect">
              <a:avLst/>
            </a:prstGeom>
            <a:solidFill>
              <a:srgbClr val="DBE8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6D28D9"/>
                </a:buClr>
                <a:buSzPts val="952"/>
                <a:buFont typeface="Arial"/>
                <a:buNone/>
              </a:pPr>
              <a:r>
                <a:rPr b="1" i="0" lang="en-US" sz="1350" u="none" cap="none" strike="noStrike">
                  <a:solidFill>
                    <a:srgbClr val="1155CC"/>
                  </a:solidFill>
                  <a:latin typeface="Arial"/>
                  <a:ea typeface="Arial"/>
                  <a:cs typeface="Arial"/>
                  <a:sym typeface="Arial"/>
                </a:rPr>
                <a:t>GlyGen API</a:t>
              </a:r>
              <a:endParaRPr b="0" i="0" sz="1350" u="none" cap="none" strike="noStrike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g3a87b670be3_6_7"/>
            <p:cNvSpPr/>
            <p:nvPr/>
          </p:nvSpPr>
          <p:spPr>
            <a:xfrm>
              <a:off x="290818" y="1529539"/>
              <a:ext cx="1811400" cy="128100"/>
            </a:xfrm>
            <a:prstGeom prst="rect">
              <a:avLst/>
            </a:prstGeom>
            <a:solidFill>
              <a:srgbClr val="DBE8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7534E"/>
                </a:buClr>
                <a:buSzPts val="595"/>
                <a:buFont typeface="Arial"/>
                <a:buNone/>
              </a:pPr>
              <a:r>
                <a:rPr b="1" i="0" lang="en-US" sz="850" u="none" cap="none" strike="noStrike">
                  <a:solidFill>
                    <a:srgbClr val="57534E"/>
                  </a:solidFill>
                </a:rPr>
                <a:t>Glycosylation sites</a:t>
              </a:r>
              <a:r>
                <a:rPr b="1" lang="en-US" sz="850">
                  <a:solidFill>
                    <a:srgbClr val="57534E"/>
                  </a:solidFill>
                </a:rPr>
                <a:t>, disease associations</a:t>
              </a:r>
              <a:endParaRPr b="1" i="0" sz="8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g3a87b670be3_6_7"/>
            <p:cNvSpPr/>
            <p:nvPr/>
          </p:nvSpPr>
          <p:spPr>
            <a:xfrm>
              <a:off x="228600" y="1761827"/>
              <a:ext cx="1949400" cy="425400"/>
            </a:xfrm>
            <a:prstGeom prst="roundRect">
              <a:avLst>
                <a:gd fmla="val 17915" name="adj"/>
              </a:avLst>
            </a:prstGeom>
            <a:solidFill>
              <a:srgbClr val="DBE8FF"/>
            </a:solidFill>
            <a:ln cap="flat" cmpd="sng" w="2267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375" lIns="108800" spcFirstLastPara="1" rIns="108800" wrap="square" tIns="543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42"/>
                <a:buFont typeface="Calibri"/>
                <a:buNone/>
              </a:pPr>
              <a:r>
                <a:t/>
              </a:r>
              <a:endParaRPr b="0" i="0" sz="23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g3a87b670be3_6_7"/>
            <p:cNvSpPr/>
            <p:nvPr/>
          </p:nvSpPr>
          <p:spPr>
            <a:xfrm>
              <a:off x="332067" y="1869728"/>
              <a:ext cx="1742700" cy="114300"/>
            </a:xfrm>
            <a:prstGeom prst="rect">
              <a:avLst/>
            </a:prstGeom>
            <a:solidFill>
              <a:srgbClr val="DBE8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6D28D9"/>
                </a:buClr>
                <a:buSzPts val="952"/>
                <a:buFont typeface="Arial"/>
                <a:buNone/>
              </a:pPr>
              <a:r>
                <a:rPr b="1" i="0" lang="en-US" sz="1350" u="none" cap="none" strike="noStrike">
                  <a:solidFill>
                    <a:srgbClr val="1155CC"/>
                  </a:solidFill>
                  <a:latin typeface="Arial"/>
                  <a:ea typeface="Arial"/>
                  <a:cs typeface="Arial"/>
                  <a:sym typeface="Arial"/>
                </a:rPr>
                <a:t>PubMed / NLP</a:t>
              </a:r>
              <a:endParaRPr b="0" i="0" sz="1350" u="none" cap="none" strike="noStrike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g3a87b670be3_6_7"/>
            <p:cNvSpPr/>
            <p:nvPr/>
          </p:nvSpPr>
          <p:spPr>
            <a:xfrm>
              <a:off x="332067" y="2017542"/>
              <a:ext cx="1742700" cy="82500"/>
            </a:xfrm>
            <a:prstGeom prst="rect">
              <a:avLst/>
            </a:prstGeom>
            <a:solidFill>
              <a:srgbClr val="DBE8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7534E"/>
                </a:buClr>
                <a:buSzPts val="595"/>
                <a:buFont typeface="Arial"/>
                <a:buNone/>
              </a:pPr>
              <a:r>
                <a:rPr b="1" i="0" lang="en-US" sz="900" u="none" cap="none" strike="noStrike">
                  <a:solidFill>
                    <a:srgbClr val="57534E"/>
                  </a:solidFill>
                </a:rPr>
                <a:t>474 abstracts min</a:t>
              </a:r>
              <a:r>
                <a:rPr b="1" lang="en-US" sz="900">
                  <a:solidFill>
                    <a:srgbClr val="57534E"/>
                  </a:solidFill>
                </a:rPr>
                <a:t>ed</a:t>
              </a:r>
              <a:endParaRPr b="1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g3a87b670be3_6_7"/>
            <p:cNvSpPr/>
            <p:nvPr/>
          </p:nvSpPr>
          <p:spPr>
            <a:xfrm>
              <a:off x="228600" y="2237929"/>
              <a:ext cx="1949400" cy="425400"/>
            </a:xfrm>
            <a:prstGeom prst="roundRect">
              <a:avLst>
                <a:gd fmla="val 17915" name="adj"/>
              </a:avLst>
            </a:prstGeom>
            <a:solidFill>
              <a:srgbClr val="DBE8FF"/>
            </a:solidFill>
            <a:ln cap="flat" cmpd="sng" w="2267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375" lIns="108800" spcFirstLastPara="1" rIns="108800" wrap="square" tIns="543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42"/>
                <a:buFont typeface="Calibri"/>
                <a:buNone/>
              </a:pPr>
              <a:r>
                <a:t/>
              </a:r>
              <a:endParaRPr b="0" i="0" sz="23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g3a87b670be3_6_7"/>
            <p:cNvSpPr/>
            <p:nvPr/>
          </p:nvSpPr>
          <p:spPr>
            <a:xfrm>
              <a:off x="332067" y="2345829"/>
              <a:ext cx="1742700" cy="114300"/>
            </a:xfrm>
            <a:prstGeom prst="rect">
              <a:avLst/>
            </a:prstGeom>
            <a:solidFill>
              <a:srgbClr val="DBE8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6D28D9"/>
                </a:buClr>
                <a:buSzPts val="952"/>
                <a:buFont typeface="Arial"/>
                <a:buNone/>
              </a:pPr>
              <a:r>
                <a:rPr b="1" i="0" lang="en-US" sz="1350" u="none" cap="none" strike="noStrike">
                  <a:solidFill>
                    <a:srgbClr val="1155CC"/>
                  </a:solidFill>
                  <a:latin typeface="Arial"/>
                  <a:ea typeface="Arial"/>
                  <a:cs typeface="Arial"/>
                  <a:sym typeface="Arial"/>
                </a:rPr>
                <a:t>BioMuta / dbSNP</a:t>
              </a:r>
              <a:endParaRPr b="0" i="0" sz="1350" u="none" cap="none" strike="noStrike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g3a87b670be3_6_7"/>
            <p:cNvSpPr/>
            <p:nvPr/>
          </p:nvSpPr>
          <p:spPr>
            <a:xfrm>
              <a:off x="332067" y="2503149"/>
              <a:ext cx="1742700" cy="82500"/>
            </a:xfrm>
            <a:prstGeom prst="rect">
              <a:avLst/>
            </a:prstGeom>
            <a:solidFill>
              <a:srgbClr val="DBE8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7534E"/>
                </a:buClr>
                <a:buSzPts val="595"/>
                <a:buFont typeface="Arial"/>
                <a:buNone/>
              </a:pPr>
              <a:r>
                <a:rPr b="1" i="0" lang="en-US" sz="900" u="none" cap="none" strike="noStrike">
                  <a:solidFill>
                    <a:srgbClr val="57534E"/>
                  </a:solidFill>
                </a:rPr>
                <a:t>Disease-associated SNVs</a:t>
              </a:r>
              <a:endParaRPr b="1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g3a87b670be3_6_7"/>
            <p:cNvSpPr/>
            <p:nvPr/>
          </p:nvSpPr>
          <p:spPr>
            <a:xfrm>
              <a:off x="228600" y="2714030"/>
              <a:ext cx="1949400" cy="425400"/>
            </a:xfrm>
            <a:prstGeom prst="roundRect">
              <a:avLst>
                <a:gd fmla="val 17915" name="adj"/>
              </a:avLst>
            </a:prstGeom>
            <a:solidFill>
              <a:srgbClr val="DBE8FF"/>
            </a:solidFill>
            <a:ln cap="flat" cmpd="sng" w="2267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4375" lIns="108800" spcFirstLastPara="1" rIns="108800" wrap="square" tIns="543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42"/>
                <a:buFont typeface="Calibri"/>
                <a:buNone/>
              </a:pPr>
              <a:r>
                <a:t/>
              </a:r>
              <a:endParaRPr b="0" i="0" sz="23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g3a87b670be3_6_7"/>
            <p:cNvSpPr/>
            <p:nvPr/>
          </p:nvSpPr>
          <p:spPr>
            <a:xfrm>
              <a:off x="332067" y="2821930"/>
              <a:ext cx="1742700" cy="114300"/>
            </a:xfrm>
            <a:prstGeom prst="rect">
              <a:avLst/>
            </a:prstGeom>
            <a:solidFill>
              <a:srgbClr val="DBE8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6D28D9"/>
                </a:buClr>
                <a:buSzPts val="952"/>
                <a:buFont typeface="Arial"/>
                <a:buNone/>
              </a:pPr>
              <a:r>
                <a:rPr b="1" i="0" lang="en-US" sz="1350" u="none" cap="none" strike="noStrike">
                  <a:solidFill>
                    <a:srgbClr val="1155CC"/>
                  </a:solidFill>
                  <a:latin typeface="Arial"/>
                  <a:ea typeface="Arial"/>
                  <a:cs typeface="Arial"/>
                  <a:sym typeface="Arial"/>
                </a:rPr>
                <a:t>UniProtKB</a:t>
              </a:r>
              <a:endParaRPr b="0" i="0" sz="1350" u="none" cap="none" strike="noStrike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g3a87b670be3_6_7"/>
            <p:cNvSpPr/>
            <p:nvPr/>
          </p:nvSpPr>
          <p:spPr>
            <a:xfrm>
              <a:off x="332067" y="2979250"/>
              <a:ext cx="1742700" cy="82500"/>
            </a:xfrm>
            <a:prstGeom prst="rect">
              <a:avLst/>
            </a:prstGeom>
            <a:solidFill>
              <a:srgbClr val="DBE8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7534E"/>
                </a:buClr>
                <a:buSzPts val="595"/>
                <a:buFont typeface="Arial"/>
                <a:buNone/>
              </a:pPr>
              <a:r>
                <a:rPr b="1" lang="en-US" sz="900">
                  <a:solidFill>
                    <a:srgbClr val="57534E"/>
                  </a:solidFill>
                </a:rPr>
                <a:t>P</a:t>
              </a:r>
              <a:r>
                <a:rPr b="1" i="0" lang="en-US" sz="900" u="none" cap="none" strike="noStrike">
                  <a:solidFill>
                    <a:srgbClr val="57534E"/>
                  </a:solidFill>
                </a:rPr>
                <a:t>rotein metadata</a:t>
              </a:r>
              <a:endParaRPr b="1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0" name="Google Shape;130;g3a87b670be3_6_7"/>
          <p:cNvGrpSpPr/>
          <p:nvPr/>
        </p:nvGrpSpPr>
        <p:grpSpPr>
          <a:xfrm>
            <a:off x="4529270" y="698526"/>
            <a:ext cx="375338" cy="375384"/>
            <a:chOff x="3317825" y="714226"/>
            <a:chExt cx="228600" cy="228600"/>
          </a:xfrm>
        </p:grpSpPr>
        <p:sp>
          <p:nvSpPr>
            <p:cNvPr id="131" name="Google Shape;131;g3a87b670be3_6_7"/>
            <p:cNvSpPr/>
            <p:nvPr/>
          </p:nvSpPr>
          <p:spPr>
            <a:xfrm>
              <a:off x="3317825" y="714226"/>
              <a:ext cx="228600" cy="228600"/>
            </a:xfrm>
            <a:prstGeom prst="roundRect">
              <a:avLst>
                <a:gd fmla="val 40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75025" lIns="150125" spcFirstLastPara="1" rIns="150125" wrap="square" tIns="750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956"/>
                <a:buFont typeface="Calibri"/>
                <a:buNone/>
              </a:pPr>
              <a:r>
                <a:t/>
              </a:r>
              <a:endParaRPr b="0" i="0" sz="295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g3a87b670be3_6_7"/>
            <p:cNvSpPr/>
            <p:nvPr/>
          </p:nvSpPr>
          <p:spPr>
            <a:xfrm>
              <a:off x="3403848" y="771376"/>
              <a:ext cx="57600" cy="1143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14"/>
                <a:buFont typeface="Arial"/>
                <a:buNone/>
              </a:pPr>
              <a:r>
                <a:rPr b="1" i="0" lang="en-US" sz="131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31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" name="Google Shape;133;g3a87b670be3_6_7"/>
          <p:cNvSpPr/>
          <p:nvPr/>
        </p:nvSpPr>
        <p:spPr>
          <a:xfrm>
            <a:off x="3503153" y="1146524"/>
            <a:ext cx="2510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900"/>
              <a:buFont typeface="Arial"/>
              <a:buNone/>
            </a:pPr>
            <a:r>
              <a:rPr b="1" i="0" lang="en-US" sz="15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Core Entities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4" name="Google Shape;134;g3a87b670be3_6_7"/>
          <p:cNvGrpSpPr/>
          <p:nvPr/>
        </p:nvGrpSpPr>
        <p:grpSpPr>
          <a:xfrm>
            <a:off x="3507356" y="1458482"/>
            <a:ext cx="2510047" cy="2304298"/>
            <a:chOff x="2457450" y="1203127"/>
            <a:chExt cx="1949400" cy="1789607"/>
          </a:xfrm>
        </p:grpSpPr>
        <p:sp>
          <p:nvSpPr>
            <p:cNvPr id="135" name="Google Shape;135;g3a87b670be3_6_7"/>
            <p:cNvSpPr/>
            <p:nvPr/>
          </p:nvSpPr>
          <p:spPr>
            <a:xfrm>
              <a:off x="2457450" y="1203127"/>
              <a:ext cx="1949400" cy="279300"/>
            </a:xfrm>
            <a:prstGeom prst="roundRect">
              <a:avLst>
                <a:gd fmla="val 54584" name="adj"/>
              </a:avLst>
            </a:prstGeom>
            <a:solidFill>
              <a:srgbClr val="EAD1DC"/>
            </a:solidFill>
            <a:ln>
              <a:noFill/>
            </a:ln>
          </p:spPr>
          <p:txBody>
            <a:bodyPr anchorCtr="0" anchor="ctr" bIns="58825" lIns="117725" spcFirstLastPara="1" rIns="117725" wrap="square" tIns="588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18"/>
                <a:buFont typeface="Calibri"/>
                <a:buNone/>
              </a:pPr>
              <a:r>
                <a:t/>
              </a:r>
              <a:endParaRPr b="0" i="0" sz="231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g3a87b670be3_6_7"/>
            <p:cNvSpPr/>
            <p:nvPr/>
          </p:nvSpPr>
          <p:spPr>
            <a:xfrm>
              <a:off x="2968589" y="1276044"/>
              <a:ext cx="895500" cy="1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DB2777"/>
                </a:buClr>
                <a:buSzPts val="1159"/>
                <a:buFont typeface="Arial"/>
                <a:buNone/>
              </a:pPr>
              <a:r>
                <a:rPr b="1" lang="en-US" sz="1350">
                  <a:solidFill>
                    <a:srgbClr val="DB2777"/>
                  </a:solidFill>
                </a:rPr>
                <a:t>2435</a:t>
              </a:r>
              <a:r>
                <a:rPr b="1" i="0" lang="en-US" sz="1350" u="none" cap="none" strike="noStrike">
                  <a:solidFill>
                    <a:srgbClr val="DB2777"/>
                  </a:solidFill>
                </a:rPr>
                <a:t> Proteins</a:t>
              </a:r>
              <a:endParaRPr b="1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g3a87b670be3_6_7"/>
            <p:cNvSpPr/>
            <p:nvPr/>
          </p:nvSpPr>
          <p:spPr>
            <a:xfrm>
              <a:off x="2457450" y="1520428"/>
              <a:ext cx="1949400" cy="279300"/>
            </a:xfrm>
            <a:prstGeom prst="roundRect">
              <a:avLst>
                <a:gd fmla="val 54584" name="adj"/>
              </a:avLst>
            </a:prstGeom>
            <a:solidFill>
              <a:srgbClr val="D9D2E9"/>
            </a:solidFill>
            <a:ln>
              <a:noFill/>
            </a:ln>
          </p:spPr>
          <p:txBody>
            <a:bodyPr anchorCtr="0" anchor="ctr" bIns="58825" lIns="117725" spcFirstLastPara="1" rIns="117725" wrap="square" tIns="588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18"/>
                <a:buFont typeface="Calibri"/>
                <a:buNone/>
              </a:pPr>
              <a:r>
                <a:t/>
              </a:r>
              <a:endParaRPr b="0" i="0" sz="231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g3a87b670be3_6_7"/>
            <p:cNvSpPr/>
            <p:nvPr/>
          </p:nvSpPr>
          <p:spPr>
            <a:xfrm>
              <a:off x="2656366" y="1593347"/>
              <a:ext cx="1520100" cy="1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6D28D9"/>
                </a:buClr>
                <a:buSzPts val="1159"/>
                <a:buFont typeface="Arial"/>
                <a:buNone/>
              </a:pPr>
              <a:r>
                <a:rPr b="1" lang="en-US" sz="1350">
                  <a:solidFill>
                    <a:srgbClr val="6D28D9"/>
                  </a:solidFill>
                </a:rPr>
                <a:t>2,4</a:t>
              </a:r>
              <a:r>
                <a:rPr b="1" i="0" lang="en-US" sz="1350" u="none" cap="none" strike="noStrike">
                  <a:solidFill>
                    <a:srgbClr val="6D28D9"/>
                  </a:solidFill>
                  <a:latin typeface="Arial"/>
                  <a:ea typeface="Arial"/>
                  <a:cs typeface="Arial"/>
                  <a:sym typeface="Arial"/>
                </a:rPr>
                <a:t>00+</a:t>
              </a:r>
              <a:r>
                <a:rPr b="1" i="0" lang="en-US" sz="1350" u="none" cap="none" strike="noStrike">
                  <a:solidFill>
                    <a:srgbClr val="6D28D9"/>
                  </a:solidFill>
                </a:rPr>
                <a:t> Glyco Sites</a:t>
              </a:r>
              <a:endParaRPr b="1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g3a87b670be3_6_7"/>
            <p:cNvSpPr/>
            <p:nvPr/>
          </p:nvSpPr>
          <p:spPr>
            <a:xfrm>
              <a:off x="2457450" y="1837730"/>
              <a:ext cx="1949400" cy="279300"/>
            </a:xfrm>
            <a:prstGeom prst="roundRect">
              <a:avLst>
                <a:gd fmla="val 54584" name="adj"/>
              </a:avLst>
            </a:prstGeom>
            <a:solidFill>
              <a:srgbClr val="CFE2F3"/>
            </a:solidFill>
            <a:ln>
              <a:noFill/>
            </a:ln>
          </p:spPr>
          <p:txBody>
            <a:bodyPr anchorCtr="0" anchor="ctr" bIns="58825" lIns="117725" spcFirstLastPara="1" rIns="117725" wrap="square" tIns="588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18"/>
                <a:buFont typeface="Calibri"/>
                <a:buNone/>
              </a:pPr>
              <a:r>
                <a:t/>
              </a:r>
              <a:endParaRPr b="0" i="0" sz="231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g3a87b670be3_6_7"/>
            <p:cNvSpPr/>
            <p:nvPr/>
          </p:nvSpPr>
          <p:spPr>
            <a:xfrm>
              <a:off x="2883507" y="1910649"/>
              <a:ext cx="1065900" cy="1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DC2626"/>
                </a:buClr>
                <a:buSzPts val="1159"/>
                <a:buFont typeface="Arial"/>
                <a:buNone/>
              </a:pPr>
              <a:r>
                <a:rPr b="1" lang="en-US" sz="1350">
                  <a:solidFill>
                    <a:srgbClr val="3C78D8"/>
                  </a:solidFill>
                </a:rPr>
                <a:t>2,000</a:t>
              </a:r>
              <a:r>
                <a:rPr b="1" i="0" lang="en-US" sz="1350" u="none" cap="none" strike="noStrike">
                  <a:solidFill>
                    <a:srgbClr val="3C78D8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r>
                <a:rPr b="1" i="0" lang="en-US" sz="1350" u="none" cap="none" strike="noStrike">
                  <a:solidFill>
                    <a:srgbClr val="3C78D8"/>
                  </a:solidFill>
                </a:rPr>
                <a:t> Diseases</a:t>
              </a:r>
              <a:endParaRPr b="1" i="0" sz="1350" u="none" cap="none" strike="noStrike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g3a87b670be3_6_7"/>
            <p:cNvSpPr/>
            <p:nvPr/>
          </p:nvSpPr>
          <p:spPr>
            <a:xfrm>
              <a:off x="2457450" y="2155031"/>
              <a:ext cx="1949400" cy="241200"/>
            </a:xfrm>
            <a:prstGeom prst="roundRect">
              <a:avLst>
                <a:gd fmla="val 63210" name="adj"/>
              </a:avLst>
            </a:prstGeom>
            <a:solidFill>
              <a:srgbClr val="D0E0E3"/>
            </a:solidFill>
            <a:ln>
              <a:noFill/>
            </a:ln>
          </p:spPr>
          <p:txBody>
            <a:bodyPr anchorCtr="0" anchor="ctr" bIns="58825" lIns="117725" spcFirstLastPara="1" rIns="117725" wrap="square" tIns="588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18"/>
                <a:buFont typeface="Calibri"/>
                <a:buNone/>
              </a:pPr>
              <a:r>
                <a:t/>
              </a:r>
              <a:endParaRPr b="0" i="0" sz="231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g3a87b670be3_6_7"/>
            <p:cNvSpPr/>
            <p:nvPr/>
          </p:nvSpPr>
          <p:spPr>
            <a:xfrm>
              <a:off x="2674225" y="2218162"/>
              <a:ext cx="1484100" cy="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59669"/>
                </a:buClr>
                <a:buSzPts val="901"/>
                <a:buFont typeface="Arial"/>
                <a:buNone/>
              </a:pPr>
              <a:r>
                <a:rPr b="1" i="0" lang="en-US" sz="1350" u="none" cap="none" strike="noStrike">
                  <a:solidFill>
                    <a:srgbClr val="059669"/>
                  </a:solidFill>
                  <a:latin typeface="Arial"/>
                  <a:ea typeface="Arial"/>
                  <a:cs typeface="Arial"/>
                  <a:sym typeface="Arial"/>
                </a:rPr>
                <a:t>Tissues / Cell Types</a:t>
              </a:r>
              <a:endParaRPr b="1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g3a87b670be3_6_7"/>
            <p:cNvSpPr/>
            <p:nvPr/>
          </p:nvSpPr>
          <p:spPr>
            <a:xfrm>
              <a:off x="2457450" y="2434233"/>
              <a:ext cx="1949400" cy="241200"/>
            </a:xfrm>
            <a:prstGeom prst="roundRect">
              <a:avLst>
                <a:gd fmla="val 63210" name="adj"/>
              </a:avLst>
            </a:prstGeom>
            <a:solidFill>
              <a:srgbClr val="FFF2CC"/>
            </a:solidFill>
            <a:ln>
              <a:noFill/>
            </a:ln>
          </p:spPr>
          <p:txBody>
            <a:bodyPr anchorCtr="0" anchor="ctr" bIns="58825" lIns="117725" spcFirstLastPara="1" rIns="117725" wrap="square" tIns="588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18"/>
                <a:buFont typeface="Calibri"/>
                <a:buNone/>
              </a:pPr>
              <a:r>
                <a:t/>
              </a:r>
              <a:endParaRPr b="0" i="0" sz="231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g3a87b670be3_6_7"/>
            <p:cNvSpPr/>
            <p:nvPr/>
          </p:nvSpPr>
          <p:spPr>
            <a:xfrm>
              <a:off x="2723593" y="2497365"/>
              <a:ext cx="1385400" cy="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D97706"/>
                </a:buClr>
                <a:buSzPts val="901"/>
                <a:buFont typeface="Arial"/>
                <a:buNone/>
              </a:pPr>
              <a:r>
                <a:rPr b="1" i="0" lang="en-US" sz="1350" u="none" cap="none" strike="noStrike">
                  <a:solidFill>
                    <a:srgbClr val="BF9000"/>
                  </a:solidFill>
                  <a:latin typeface="Arial"/>
                  <a:ea typeface="Arial"/>
                  <a:cs typeface="Arial"/>
                  <a:sym typeface="Arial"/>
                </a:rPr>
                <a:t>SNVs at PTM Sites</a:t>
              </a:r>
              <a:endParaRPr b="1" i="0" sz="1350" u="none" cap="none" strike="noStrike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g3a87b670be3_6_7"/>
            <p:cNvSpPr/>
            <p:nvPr/>
          </p:nvSpPr>
          <p:spPr>
            <a:xfrm>
              <a:off x="2457450" y="2713434"/>
              <a:ext cx="1949400" cy="279300"/>
            </a:xfrm>
            <a:prstGeom prst="roundRect">
              <a:avLst>
                <a:gd fmla="val 54584" name="adj"/>
              </a:avLst>
            </a:prstGeom>
            <a:solidFill>
              <a:srgbClr val="FCE5CD"/>
            </a:solidFill>
            <a:ln>
              <a:noFill/>
            </a:ln>
          </p:spPr>
          <p:txBody>
            <a:bodyPr anchorCtr="0" anchor="ctr" bIns="58825" lIns="117725" spcFirstLastPara="1" rIns="117725" wrap="square" tIns="588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18"/>
                <a:buFont typeface="Calibri"/>
                <a:buNone/>
              </a:pPr>
              <a:r>
                <a:t/>
              </a:r>
              <a:endParaRPr b="0" i="0" sz="231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a87b670be3_6_7"/>
            <p:cNvSpPr/>
            <p:nvPr/>
          </p:nvSpPr>
          <p:spPr>
            <a:xfrm>
              <a:off x="2536101" y="2786358"/>
              <a:ext cx="1761000" cy="1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2563EB"/>
                </a:buClr>
                <a:buSzPts val="1159"/>
                <a:buFont typeface="Arial"/>
                <a:buNone/>
              </a:pPr>
              <a:r>
                <a:rPr b="1" lang="en-US" sz="1350">
                  <a:solidFill>
                    <a:srgbClr val="B45F06"/>
                  </a:solidFill>
                </a:rPr>
                <a:t>100</a:t>
              </a:r>
              <a:r>
                <a:rPr b="1" i="0" lang="en-US" sz="1350" u="none" cap="none" strike="noStrike">
                  <a:solidFill>
                    <a:srgbClr val="B45F06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r>
                <a:rPr b="1" i="0" lang="en-US" sz="1350" u="none" cap="none" strike="noStrike">
                  <a:solidFill>
                    <a:srgbClr val="B45F06"/>
                  </a:solidFill>
                </a:rPr>
                <a:t> NLP Annotations</a:t>
              </a:r>
              <a:endParaRPr b="1" i="0" sz="1350" u="none" cap="none" strike="noStrike">
                <a:solidFill>
                  <a:srgbClr val="B45F0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7" name="Google Shape;147;g3a87b670be3_6_7"/>
          <p:cNvSpPr/>
          <p:nvPr/>
        </p:nvSpPr>
        <p:spPr>
          <a:xfrm>
            <a:off x="430325" y="4007400"/>
            <a:ext cx="8496300" cy="971400"/>
          </a:xfrm>
          <a:prstGeom prst="roundRect">
            <a:avLst>
              <a:gd fmla="val 13959" name="adj"/>
            </a:avLst>
          </a:prstGeom>
          <a:solidFill>
            <a:srgbClr val="DBE8FF"/>
          </a:solidFill>
          <a:ln cap="flat" cmpd="sng" w="204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8975" lIns="97975" spcFirstLastPara="1" rIns="97975" wrap="square" tIns="489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9"/>
              <a:buFont typeface="Calibri"/>
              <a:buNone/>
            </a:pPr>
            <a:r>
              <a:t/>
            </a:r>
            <a:endParaRPr b="0" i="0" sz="192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3a87b670be3_6_7"/>
          <p:cNvSpPr/>
          <p:nvPr/>
        </p:nvSpPr>
        <p:spPr>
          <a:xfrm>
            <a:off x="504350" y="4084499"/>
            <a:ext cx="7933800" cy="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857"/>
              <a:buFont typeface="Arial"/>
              <a:buNone/>
            </a:pPr>
            <a:r>
              <a:rPr b="1" i="0" lang="en-US" sz="1464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GlyGen PTM Explorer</a:t>
            </a:r>
            <a:r>
              <a:rPr b="1" i="0" lang="en-US" sz="1464" u="none" cap="none" strike="noStrike">
                <a:solidFill>
                  <a:srgbClr val="44403C"/>
                </a:solidFill>
              </a:rPr>
              <a:t> </a:t>
            </a:r>
            <a:r>
              <a:rPr b="1" i="0" lang="en-US" sz="1264" u="none" cap="none" strike="noStrike">
                <a:solidFill>
                  <a:srgbClr val="44403C"/>
                </a:solidFill>
              </a:rPr>
              <a:t>integrates glycosylation and phosphorylation data from GlyGen with NLP-mined literature annotations, connecting neurodegeneration proteins to 40+ disease conditions with site-level variant overlap and pathway enrichment.</a:t>
            </a:r>
            <a:endParaRPr b="1" i="0" sz="12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g3a87b670be3_6_7"/>
          <p:cNvSpPr/>
          <p:nvPr/>
        </p:nvSpPr>
        <p:spPr>
          <a:xfrm>
            <a:off x="6676357" y="2609125"/>
            <a:ext cx="2165400" cy="286200"/>
          </a:xfrm>
          <a:prstGeom prst="roundRect">
            <a:avLst>
              <a:gd fmla="val 15001" name="adj"/>
            </a:avLst>
          </a:prstGeom>
          <a:solidFill>
            <a:srgbClr val="DBE8FF"/>
          </a:solidFill>
          <a:ln cap="flat" cmpd="sng" w="2267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375" lIns="108800" spcFirstLastPara="1" rIns="108800" wrap="square" tIns="54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42"/>
              <a:buFont typeface="Calibri"/>
              <a:buNone/>
            </a:pPr>
            <a:r>
              <a:t/>
            </a:r>
            <a:endParaRPr b="0" i="0" sz="23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3a87b670be3_6_7"/>
          <p:cNvSpPr/>
          <p:nvPr/>
        </p:nvSpPr>
        <p:spPr>
          <a:xfrm>
            <a:off x="6676357" y="3009377"/>
            <a:ext cx="2165400" cy="286200"/>
          </a:xfrm>
          <a:prstGeom prst="roundRect">
            <a:avLst>
              <a:gd fmla="val 15001" name="adj"/>
            </a:avLst>
          </a:prstGeom>
          <a:solidFill>
            <a:srgbClr val="DBE8FF"/>
          </a:solidFill>
          <a:ln cap="flat" cmpd="sng" w="2267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375" lIns="108800" spcFirstLastPara="1" rIns="108800" wrap="square" tIns="54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42"/>
              <a:buFont typeface="Calibri"/>
              <a:buNone/>
            </a:pPr>
            <a:r>
              <a:t/>
            </a:r>
            <a:endParaRPr b="0" i="0" sz="23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3a87b670be3_6_7"/>
          <p:cNvSpPr/>
          <p:nvPr/>
        </p:nvSpPr>
        <p:spPr>
          <a:xfrm>
            <a:off x="6676557" y="2194001"/>
            <a:ext cx="2165400" cy="286200"/>
          </a:xfrm>
          <a:prstGeom prst="roundRect">
            <a:avLst>
              <a:gd fmla="val 15001" name="adj"/>
            </a:avLst>
          </a:prstGeom>
          <a:solidFill>
            <a:srgbClr val="DBE8FF"/>
          </a:solidFill>
          <a:ln cap="flat" cmpd="sng" w="2267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375" lIns="108800" spcFirstLastPara="1" rIns="108800" wrap="square" tIns="54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42"/>
              <a:buFont typeface="Calibri"/>
              <a:buNone/>
            </a:pPr>
            <a:r>
              <a:t/>
            </a:r>
            <a:endParaRPr b="0" i="0" sz="23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g3a87b670be3_6_7"/>
          <p:cNvSpPr/>
          <p:nvPr/>
        </p:nvSpPr>
        <p:spPr>
          <a:xfrm>
            <a:off x="6676553" y="1785140"/>
            <a:ext cx="2165400" cy="286200"/>
          </a:xfrm>
          <a:prstGeom prst="roundRect">
            <a:avLst>
              <a:gd fmla="val 15001" name="adj"/>
            </a:avLst>
          </a:prstGeom>
          <a:solidFill>
            <a:srgbClr val="DBE8FF"/>
          </a:solidFill>
          <a:ln cap="flat" cmpd="sng" w="2267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375" lIns="108800" spcFirstLastPara="1" rIns="108800" wrap="square" tIns="54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42"/>
              <a:buFont typeface="Calibri"/>
              <a:buNone/>
            </a:pPr>
            <a:r>
              <a:t/>
            </a:r>
            <a:endParaRPr b="0" i="0" sz="23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3a87b670be3_6_7"/>
          <p:cNvSpPr/>
          <p:nvPr/>
        </p:nvSpPr>
        <p:spPr>
          <a:xfrm>
            <a:off x="6676350" y="1395140"/>
            <a:ext cx="2165400" cy="286200"/>
          </a:xfrm>
          <a:prstGeom prst="roundRect">
            <a:avLst>
              <a:gd fmla="val 15001" name="adj"/>
            </a:avLst>
          </a:prstGeom>
          <a:solidFill>
            <a:srgbClr val="DBE8FF"/>
          </a:solidFill>
          <a:ln cap="flat" cmpd="sng" w="2267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375" lIns="108800" spcFirstLastPara="1" rIns="108800" wrap="square" tIns="54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42"/>
              <a:buFont typeface="Calibri"/>
              <a:buNone/>
            </a:pPr>
            <a:r>
              <a:t/>
            </a:r>
            <a:endParaRPr b="0" i="0" sz="23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4" name="Google Shape;154;g3a87b670be3_6_7"/>
          <p:cNvGrpSpPr/>
          <p:nvPr/>
        </p:nvGrpSpPr>
        <p:grpSpPr>
          <a:xfrm>
            <a:off x="7515060" y="705320"/>
            <a:ext cx="375384" cy="375384"/>
            <a:chOff x="5546675" y="714226"/>
            <a:chExt cx="228600" cy="228600"/>
          </a:xfrm>
        </p:grpSpPr>
        <p:sp>
          <p:nvSpPr>
            <p:cNvPr id="155" name="Google Shape;155;g3a87b670be3_6_7"/>
            <p:cNvSpPr/>
            <p:nvPr/>
          </p:nvSpPr>
          <p:spPr>
            <a:xfrm>
              <a:off x="5546675" y="714226"/>
              <a:ext cx="228600" cy="228600"/>
            </a:xfrm>
            <a:prstGeom prst="roundRect">
              <a:avLst>
                <a:gd fmla="val 40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75050" lIns="150150" spcFirstLastPara="1" rIns="150150" wrap="square" tIns="750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956"/>
                <a:buFont typeface="Calibri"/>
                <a:buNone/>
              </a:pPr>
              <a:r>
                <a:t/>
              </a:r>
              <a:endParaRPr b="0" i="0" sz="2956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g3a87b670be3_6_7"/>
            <p:cNvSpPr/>
            <p:nvPr/>
          </p:nvSpPr>
          <p:spPr>
            <a:xfrm>
              <a:off x="5632698" y="771376"/>
              <a:ext cx="57600" cy="1143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314"/>
                <a:buFont typeface="Arial"/>
                <a:buNone/>
              </a:pPr>
              <a:r>
                <a:rPr b="1" i="0" lang="en-US" sz="131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31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7" name="Google Shape;157;g3a87b670be3_6_7"/>
          <p:cNvSpPr/>
          <p:nvPr/>
        </p:nvSpPr>
        <p:spPr>
          <a:xfrm>
            <a:off x="6995349" y="1096393"/>
            <a:ext cx="15657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900"/>
              <a:buFont typeface="Arial"/>
              <a:buNone/>
            </a:pPr>
            <a:r>
              <a:rPr b="1" i="0" lang="en-US" sz="15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Explorer Views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8" name="Google Shape;158;g3a87b670be3_6_7"/>
          <p:cNvGrpSpPr/>
          <p:nvPr/>
        </p:nvGrpSpPr>
        <p:grpSpPr>
          <a:xfrm>
            <a:off x="6269273" y="1451775"/>
            <a:ext cx="2508488" cy="1872011"/>
            <a:chOff x="6857851" y="1276052"/>
            <a:chExt cx="1841228" cy="1374054"/>
          </a:xfrm>
        </p:grpSpPr>
        <p:cxnSp>
          <p:nvCxnSpPr>
            <p:cNvPr id="159" name="Google Shape;159;g3a87b670be3_6_7"/>
            <p:cNvCxnSpPr/>
            <p:nvPr/>
          </p:nvCxnSpPr>
          <p:spPr>
            <a:xfrm>
              <a:off x="6857851" y="2565499"/>
              <a:ext cx="57300" cy="0"/>
            </a:xfrm>
            <a:prstGeom prst="straightConnector1">
              <a:avLst/>
            </a:prstGeom>
            <a:noFill/>
            <a:ln cap="flat" cmpd="sng" w="648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0" name="Google Shape;160;g3a87b670be3_6_7"/>
            <p:cNvCxnSpPr/>
            <p:nvPr/>
          </p:nvCxnSpPr>
          <p:spPr>
            <a:xfrm>
              <a:off x="6857851" y="2613124"/>
              <a:ext cx="57300" cy="0"/>
            </a:xfrm>
            <a:prstGeom prst="straightConnector1">
              <a:avLst/>
            </a:prstGeom>
            <a:noFill/>
            <a:ln cap="flat" cmpd="sng" w="648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1" name="Google Shape;161;g3a87b670be3_6_7"/>
            <p:cNvSpPr/>
            <p:nvPr/>
          </p:nvSpPr>
          <p:spPr>
            <a:xfrm>
              <a:off x="7203879" y="1276052"/>
              <a:ext cx="1495200" cy="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C1917"/>
                </a:buClr>
                <a:buSzPts val="954"/>
                <a:buFont typeface="Arial"/>
                <a:buNone/>
              </a:pPr>
              <a:r>
                <a:rPr b="1" i="0" lang="en-US" sz="1354" u="none" cap="none" strike="noStrike">
                  <a:solidFill>
                    <a:srgbClr val="44403C"/>
                  </a:solidFill>
                  <a:latin typeface="Arial"/>
                  <a:ea typeface="Arial"/>
                  <a:cs typeface="Arial"/>
                  <a:sym typeface="Arial"/>
                </a:rPr>
                <a:t>PTM Track Viewer</a:t>
              </a:r>
              <a:endParaRPr b="1" i="0" sz="1354" u="none" cap="none" strike="noStrike">
                <a:solidFill>
                  <a:srgbClr val="44403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g3a87b670be3_6_7"/>
            <p:cNvSpPr/>
            <p:nvPr/>
          </p:nvSpPr>
          <p:spPr>
            <a:xfrm>
              <a:off x="7203879" y="1565653"/>
              <a:ext cx="1495200" cy="16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C1917"/>
                </a:buClr>
                <a:buSzPts val="954"/>
                <a:buFont typeface="Arial"/>
                <a:buNone/>
              </a:pPr>
              <a:r>
                <a:rPr b="1" i="0" lang="en-US" sz="1350" u="none" cap="none" strike="noStrike">
                  <a:solidFill>
                    <a:srgbClr val="44403C"/>
                  </a:solidFill>
                  <a:latin typeface="Arial"/>
                  <a:ea typeface="Arial"/>
                  <a:cs typeface="Arial"/>
                  <a:sym typeface="Arial"/>
                </a:rPr>
                <a:t>Condition Changes</a:t>
              </a:r>
              <a:endParaRPr b="1" i="0" sz="1350" u="none" cap="none" strike="noStrike">
                <a:solidFill>
                  <a:srgbClr val="44403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g3a87b670be3_6_7"/>
            <p:cNvSpPr/>
            <p:nvPr/>
          </p:nvSpPr>
          <p:spPr>
            <a:xfrm>
              <a:off x="7240762" y="1862640"/>
              <a:ext cx="1393500" cy="10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C1917"/>
                </a:buClr>
                <a:buSzPts val="954"/>
                <a:buFont typeface="Arial"/>
                <a:buNone/>
              </a:pPr>
              <a:r>
                <a:rPr b="1" i="0" lang="en-US" sz="1350" u="none" cap="none" strike="noStrike">
                  <a:solidFill>
                    <a:srgbClr val="44403C"/>
                  </a:solidFill>
                  <a:latin typeface="Arial"/>
                  <a:ea typeface="Arial"/>
                  <a:cs typeface="Arial"/>
                  <a:sym typeface="Arial"/>
                </a:rPr>
                <a:t>Pathway Enrichment</a:t>
              </a:r>
              <a:endParaRPr b="1" i="0" sz="1350" u="none" cap="none" strike="noStrike">
                <a:solidFill>
                  <a:srgbClr val="44403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g3a87b670be3_6_7"/>
            <p:cNvSpPr/>
            <p:nvPr/>
          </p:nvSpPr>
          <p:spPr>
            <a:xfrm>
              <a:off x="7254590" y="2143131"/>
              <a:ext cx="1393500" cy="17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C1917"/>
                </a:buClr>
                <a:buSzPts val="954"/>
                <a:buFont typeface="Arial"/>
                <a:buNone/>
              </a:pPr>
              <a:r>
                <a:rPr b="1" i="0" lang="en-US" sz="1350" u="none" cap="none" strike="noStrike">
                  <a:solidFill>
                    <a:srgbClr val="44403C"/>
                  </a:solidFill>
                  <a:latin typeface="Arial"/>
                  <a:ea typeface="Arial"/>
                  <a:cs typeface="Arial"/>
                  <a:sym typeface="Arial"/>
                </a:rPr>
                <a:t>Variant-PTM Overlap</a:t>
              </a:r>
              <a:endParaRPr b="1" i="0" sz="1350" u="none" cap="none" strike="noStrike">
                <a:solidFill>
                  <a:srgbClr val="44403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g3a87b670be3_6_7"/>
            <p:cNvSpPr/>
            <p:nvPr/>
          </p:nvSpPr>
          <p:spPr>
            <a:xfrm>
              <a:off x="7257433" y="2426306"/>
              <a:ext cx="1356300" cy="2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1C1917"/>
                </a:buClr>
                <a:buSzPts val="954"/>
                <a:buFont typeface="Arial"/>
                <a:buNone/>
              </a:pPr>
              <a:r>
                <a:rPr b="1" lang="en-US" sz="1350">
                  <a:solidFill>
                    <a:srgbClr val="44403C"/>
                  </a:solidFill>
                </a:rPr>
                <a:t>Multi-Filter Search</a:t>
              </a:r>
              <a:endParaRPr b="1" i="0" sz="1350" u="none" cap="none" strike="noStrike">
                <a:solidFill>
                  <a:srgbClr val="44403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6" name="Google Shape;166;g3a87b670be3_6_7"/>
          <p:cNvSpPr/>
          <p:nvPr/>
        </p:nvSpPr>
        <p:spPr>
          <a:xfrm>
            <a:off x="4065900" y="-374300"/>
            <a:ext cx="8997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1C1917"/>
                </a:solidFill>
              </a:rPr>
              <a:t>JANA</a:t>
            </a:r>
            <a:endParaRPr sz="1300">
              <a:solidFill>
                <a:srgbClr val="292524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a87b670be3_0_239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3a87b670be3_0_239"/>
          <p:cNvSpPr/>
          <p:nvPr/>
        </p:nvSpPr>
        <p:spPr>
          <a:xfrm>
            <a:off x="292725" y="273024"/>
            <a:ext cx="8638500" cy="4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2000"/>
              <a:buFont typeface="Arial"/>
              <a:buNone/>
            </a:pPr>
            <a:r>
              <a:rPr b="1" i="0" lang="en-US" sz="2800" u="none" cap="none" strike="noStrike">
                <a:solidFill>
                  <a:srgbClr val="1C1917"/>
                </a:solidFill>
                <a:latin typeface="Arial"/>
                <a:ea typeface="Arial"/>
                <a:cs typeface="Arial"/>
                <a:sym typeface="Arial"/>
              </a:rPr>
              <a:t>CFDE/GlyGen PTM Disease-Tissue Explorer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a87b670be3_0_239"/>
          <p:cNvSpPr/>
          <p:nvPr/>
        </p:nvSpPr>
        <p:spPr>
          <a:xfrm>
            <a:off x="3585513" y="2174587"/>
            <a:ext cx="20529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2000"/>
              <a:buFont typeface="Arial"/>
              <a:buNone/>
            </a:pPr>
            <a:r>
              <a:rPr b="1" lang="en-US" sz="2000">
                <a:solidFill>
                  <a:srgbClr val="1C1917"/>
                </a:solidFill>
              </a:rPr>
              <a:t>QR code here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g3a87b670be3_0_239"/>
          <p:cNvSpPr/>
          <p:nvPr/>
        </p:nvSpPr>
        <p:spPr>
          <a:xfrm>
            <a:off x="3501588" y="2739087"/>
            <a:ext cx="19002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2000"/>
              <a:buFont typeface="Arial"/>
              <a:buNone/>
            </a:pPr>
            <a:r>
              <a:rPr b="1" lang="en-US" sz="2000" u="sng">
                <a:solidFill>
                  <a:srgbClr val="0000FF"/>
                </a:solidFill>
              </a:rPr>
              <a:t>dashboard link</a:t>
            </a:r>
            <a:endParaRPr b="0" i="0" sz="2000" u="sng" cap="none" strike="noStrik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g3a87b670be3_0_239"/>
          <p:cNvPicPr preferRelativeResize="0"/>
          <p:nvPr/>
        </p:nvPicPr>
        <p:blipFill rotWithShape="1">
          <a:blip r:embed="rId3">
            <a:alphaModFix/>
          </a:blip>
          <a:srcRect b="6865" l="3058" r="3151" t="14039"/>
          <a:stretch/>
        </p:blipFill>
        <p:spPr>
          <a:xfrm>
            <a:off x="346900" y="722524"/>
            <a:ext cx="8130350" cy="412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g3a87b670be3_0_239"/>
          <p:cNvSpPr/>
          <p:nvPr/>
        </p:nvSpPr>
        <p:spPr>
          <a:xfrm>
            <a:off x="292725" y="71850"/>
            <a:ext cx="1650000" cy="1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DASHBOARD </a:t>
            </a:r>
            <a:r>
              <a:rPr b="1" lang="en-US" sz="1000">
                <a:solidFill>
                  <a:srgbClr val="1155CC"/>
                </a:solidFill>
              </a:rPr>
              <a:t>2 DEMO</a:t>
            </a:r>
            <a:endParaRPr b="0" i="0" sz="1000" u="none" cap="none" strike="noStrike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3a87b670be3_0_239"/>
          <p:cNvSpPr/>
          <p:nvPr/>
        </p:nvSpPr>
        <p:spPr>
          <a:xfrm>
            <a:off x="4065900" y="-374300"/>
            <a:ext cx="8997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1917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1C1917"/>
                </a:solidFill>
              </a:rPr>
              <a:t>JANA</a:t>
            </a:r>
            <a:endParaRPr sz="1300">
              <a:solidFill>
                <a:srgbClr val="292524"/>
              </a:solidFill>
            </a:endParaRPr>
          </a:p>
        </p:txBody>
      </p:sp>
      <p:pic>
        <p:nvPicPr>
          <p:cNvPr id="179" name="Google Shape;179;g3a87b670be3_0_239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96275" y="722525"/>
            <a:ext cx="3448050" cy="33718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80" name="Google Shape;180;g3a87b670be3_0_239"/>
          <p:cNvGrpSpPr/>
          <p:nvPr/>
        </p:nvGrpSpPr>
        <p:grpSpPr>
          <a:xfrm>
            <a:off x="2406921" y="4206250"/>
            <a:ext cx="4389115" cy="794400"/>
            <a:chOff x="617840" y="4711075"/>
            <a:chExt cx="4168200" cy="794400"/>
          </a:xfrm>
        </p:grpSpPr>
        <p:sp>
          <p:nvSpPr>
            <p:cNvPr id="181" name="Google Shape;181;g3a87b670be3_0_239"/>
            <p:cNvSpPr/>
            <p:nvPr/>
          </p:nvSpPr>
          <p:spPr>
            <a:xfrm>
              <a:off x="648600" y="4711075"/>
              <a:ext cx="3808200" cy="794400"/>
            </a:xfrm>
            <a:prstGeom prst="roundRect">
              <a:avLst>
                <a:gd fmla="val 13959" name="adj"/>
              </a:avLst>
            </a:prstGeom>
            <a:solidFill>
              <a:srgbClr val="DBE8FF"/>
            </a:solidFill>
            <a:ln cap="flat" cmpd="sng" w="20425">
              <a:solidFill>
                <a:srgbClr val="3C78D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8975" lIns="97975" spcFirstLastPara="1" rIns="97975" wrap="square" tIns="489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29"/>
                <a:buFont typeface="Calibri"/>
                <a:buNone/>
              </a:pPr>
              <a:r>
                <a:t/>
              </a:r>
              <a:endParaRPr b="0" i="0" sz="192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g3a87b670be3_0_239"/>
            <p:cNvSpPr txBox="1"/>
            <p:nvPr/>
          </p:nvSpPr>
          <p:spPr>
            <a:xfrm>
              <a:off x="617840" y="4800475"/>
              <a:ext cx="41682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/>
                <a:t>Next Steps:</a:t>
              </a:r>
              <a:endParaRPr/>
            </a:p>
            <a:p>
              <a:pPr indent="-3175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Char char="●"/>
              </a:pPr>
              <a:r>
                <a:rPr lang="en-US">
                  <a:solidFill>
                    <a:schemeClr val="dk1"/>
                  </a:solidFill>
                </a:rPr>
                <a:t>Uploaded </a:t>
              </a:r>
              <a:r>
                <a:rPr lang="en-US">
                  <a:solidFill>
                    <a:schemeClr val="dk1"/>
                  </a:solidFill>
                </a:rPr>
                <a:t>user data comparison feature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a87b670be3_0_169"/>
          <p:cNvSpPr/>
          <p:nvPr/>
        </p:nvSpPr>
        <p:spPr>
          <a:xfrm>
            <a:off x="554675" y="302700"/>
            <a:ext cx="8064300" cy="777600"/>
          </a:xfrm>
          <a:prstGeom prst="roundRect">
            <a:avLst>
              <a:gd fmla="val 13065" name="adj"/>
            </a:avLst>
          </a:prstGeom>
          <a:solidFill>
            <a:srgbClr val="4B1379"/>
          </a:solidFill>
          <a:ln cap="flat" cmpd="sng" w="38100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g3a87b670be3_0_169"/>
          <p:cNvSpPr/>
          <p:nvPr/>
        </p:nvSpPr>
        <p:spPr>
          <a:xfrm>
            <a:off x="662841" y="411998"/>
            <a:ext cx="80643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Mining the CFDE for Post-Translational Modification Secrets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g3a87b670be3_0_169"/>
          <p:cNvSpPr/>
          <p:nvPr/>
        </p:nvSpPr>
        <p:spPr>
          <a:xfrm>
            <a:off x="489666" y="741574"/>
            <a:ext cx="80643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D5FF"/>
              </a:buClr>
              <a:buSzPts val="1000"/>
              <a:buFont typeface="Arial"/>
              <a:buNone/>
            </a:pPr>
            <a:r>
              <a:rPr b="0" i="0" lang="en-US" sz="1600" u="none" cap="none" strike="noStrike">
                <a:solidFill>
                  <a:srgbClr val="E9D5FF"/>
                </a:solidFill>
                <a:latin typeface="Arial"/>
                <a:ea typeface="Arial"/>
                <a:cs typeface="Arial"/>
                <a:sym typeface="Arial"/>
              </a:rPr>
              <a:t>BioIT Hackathon 2026 -- Thank you</a:t>
            </a:r>
            <a:r>
              <a:rPr lang="en-US" sz="1600">
                <a:solidFill>
                  <a:srgbClr val="E9D5FF"/>
                </a:solidFill>
              </a:rPr>
              <a:t> :)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g3a87b670be3_0_169"/>
          <p:cNvSpPr/>
          <p:nvPr/>
        </p:nvSpPr>
        <p:spPr>
          <a:xfrm>
            <a:off x="925375" y="1329825"/>
            <a:ext cx="32073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lang="en-US" sz="1800" u="sng">
                <a:solidFill>
                  <a:schemeClr val="dk1"/>
                </a:solidFill>
              </a:rPr>
              <a:t>Acknowledgements</a:t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g3a87b670be3_0_169"/>
          <p:cNvSpPr/>
          <p:nvPr/>
        </p:nvSpPr>
        <p:spPr>
          <a:xfrm>
            <a:off x="489675" y="1781900"/>
            <a:ext cx="3048000" cy="8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Bio-IT Hackathon Organizers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Akleao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CFDE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193" name="Google Shape;193;g3a87b670be3_0_169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4013" y="3095950"/>
            <a:ext cx="1019989" cy="10145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94" name="Google Shape;194;g3a87b670be3_0_169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82438" y="3087758"/>
            <a:ext cx="1003500" cy="101449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5" name="Google Shape;195;g3a87b670be3_0_169"/>
          <p:cNvSpPr/>
          <p:nvPr/>
        </p:nvSpPr>
        <p:spPr>
          <a:xfrm>
            <a:off x="294002" y="4264025"/>
            <a:ext cx="1003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B2777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DB2777"/>
                </a:solidFill>
                <a:latin typeface="Arial"/>
                <a:ea typeface="Arial"/>
                <a:cs typeface="Arial"/>
                <a:sym typeface="Arial"/>
              </a:rPr>
              <a:t>DASHBOARD </a:t>
            </a:r>
            <a:r>
              <a:rPr b="1" lang="en-US" sz="900">
                <a:solidFill>
                  <a:srgbClr val="DB2777"/>
                </a:solidFill>
              </a:rPr>
              <a:t>1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g3a87b670be3_0_169"/>
          <p:cNvSpPr/>
          <p:nvPr/>
        </p:nvSpPr>
        <p:spPr>
          <a:xfrm>
            <a:off x="1590415" y="4264025"/>
            <a:ext cx="1003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B2777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155CC"/>
                </a:solidFill>
                <a:latin typeface="Arial"/>
                <a:ea typeface="Arial"/>
                <a:cs typeface="Arial"/>
                <a:sym typeface="Arial"/>
              </a:rPr>
              <a:t>DASHBOARD </a:t>
            </a:r>
            <a:r>
              <a:rPr b="1" lang="en-US" sz="900">
                <a:solidFill>
                  <a:srgbClr val="1155CC"/>
                </a:solidFill>
              </a:rPr>
              <a:t>2</a:t>
            </a:r>
            <a:r>
              <a:rPr b="1" lang="en-US" sz="900">
                <a:solidFill>
                  <a:srgbClr val="1155CC"/>
                </a:solidFill>
              </a:rPr>
              <a:t> </a:t>
            </a:r>
            <a:endParaRPr b="0" i="0" sz="900" u="none" cap="none" strike="noStrike">
              <a:solidFill>
                <a:srgbClr val="1155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7" name="Google Shape;197;g3a87b670be3_0_16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24808" y="1186481"/>
            <a:ext cx="4294131" cy="2652607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g3a87b670be3_0_169"/>
          <p:cNvSpPr/>
          <p:nvPr/>
        </p:nvSpPr>
        <p:spPr>
          <a:xfrm>
            <a:off x="4324775" y="1186488"/>
            <a:ext cx="4294200" cy="2652600"/>
          </a:xfrm>
          <a:prstGeom prst="rect">
            <a:avLst/>
          </a:prstGeom>
          <a:noFill/>
          <a:ln cap="flat" cmpd="sng" w="35450">
            <a:solidFill>
              <a:srgbClr val="4B13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5050" lIns="85050" spcFirstLastPara="1" rIns="85050" wrap="square" tIns="85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2"/>
          </a:p>
        </p:txBody>
      </p:sp>
      <p:pic>
        <p:nvPicPr>
          <p:cNvPr id="199" name="Google Shape;199;g3a87b670be3_0_16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886851" y="3095950"/>
            <a:ext cx="1019975" cy="1031296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0" name="Google Shape;200;g3a87b670be3_0_169"/>
          <p:cNvSpPr/>
          <p:nvPr/>
        </p:nvSpPr>
        <p:spPr>
          <a:xfrm>
            <a:off x="2886862" y="4264025"/>
            <a:ext cx="1389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B2777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00B050"/>
                </a:solidFill>
              </a:rPr>
              <a:t>AKLEAO WORKSPACE</a:t>
            </a:r>
            <a:endParaRPr b="1" sz="900">
              <a:solidFill>
                <a:srgbClr val="00B050"/>
              </a:solidFill>
            </a:endParaRPr>
          </a:p>
        </p:txBody>
      </p:sp>
      <p:pic>
        <p:nvPicPr>
          <p:cNvPr id="201" name="Google Shape;201;g3a87b670be3_0_16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80925" y="3945275"/>
            <a:ext cx="1747756" cy="110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2026-05-19T13:02:26Z</dcterms:created>
  <dc:creator>BioIT Hackathon Team</dc:creator>
</cp:coreProperties>
</file>